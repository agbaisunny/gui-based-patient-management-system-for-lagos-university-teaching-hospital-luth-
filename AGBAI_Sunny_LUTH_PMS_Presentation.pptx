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4" r:id="rId16"/>
    <p:sldId id="273"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1331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09040-9A5E-3A55-B31C-850977EA04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8B25E1-483C-72E7-97A5-C670E62FF4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61EE91-365B-2D42-070C-FE324107B9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5E7DFF-69D7-D340-070E-E8B333C70890}"/>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593329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D9488"/>
          </a:solidFill>
          <a:ln w="12700">
            <a:solidFill>
              <a:srgbClr val="0D9488"/>
            </a:solidFill>
            <a:prstDash val="solid"/>
          </a:ln>
        </p:spPr>
      </p:sp>
      <p:sp>
        <p:nvSpPr>
          <p:cNvPr id="3" name="Shape 1"/>
          <p:cNvSpPr/>
          <p:nvPr/>
        </p:nvSpPr>
        <p:spPr>
          <a:xfrm>
            <a:off x="146304" y="5029200"/>
            <a:ext cx="8997696" cy="114300"/>
          </a:xfrm>
          <a:prstGeom prst="rect">
            <a:avLst/>
          </a:prstGeom>
          <a:solidFill>
            <a:srgbClr val="14B8A6"/>
          </a:solidFill>
          <a:ln w="12700">
            <a:solidFill>
              <a:srgbClr val="14B8A6"/>
            </a:solidFill>
            <a:prstDash val="solid"/>
          </a:ln>
        </p:spPr>
      </p:sp>
      <p:sp>
        <p:nvSpPr>
          <p:cNvPr id="4" name="Text 2"/>
          <p:cNvSpPr/>
          <p:nvPr/>
        </p:nvSpPr>
        <p:spPr>
          <a:xfrm>
            <a:off x="365760" y="685800"/>
            <a:ext cx="8412480" cy="68580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GUI-BASED PATIENT MANAGEMENT SYSTEM</a:t>
            </a:r>
            <a:endParaRPr lang="en-US" sz="3000" dirty="0"/>
          </a:p>
        </p:txBody>
      </p:sp>
      <p:sp>
        <p:nvSpPr>
          <p:cNvPr id="5" name="Text 3"/>
          <p:cNvSpPr/>
          <p:nvPr/>
        </p:nvSpPr>
        <p:spPr>
          <a:xfrm>
            <a:off x="365760" y="1325880"/>
            <a:ext cx="8412480" cy="502920"/>
          </a:xfrm>
          <a:prstGeom prst="rect">
            <a:avLst/>
          </a:prstGeom>
          <a:noFill/>
          <a:ln/>
        </p:spPr>
        <p:txBody>
          <a:bodyPr wrap="square" rtlCol="0" anchor="ctr"/>
          <a:lstStyle/>
          <a:p>
            <a:pPr marL="0" indent="0" algn="ctr">
              <a:buNone/>
            </a:pPr>
            <a:r>
              <a:rPr lang="en-US" sz="2200" b="1" dirty="0">
                <a:solidFill>
                  <a:srgbClr val="14B8A6"/>
                </a:solidFill>
                <a:latin typeface="Calibri" pitchFamily="34" charset="0"/>
                <a:ea typeface="Calibri" pitchFamily="34" charset="-122"/>
                <a:cs typeface="Calibri" pitchFamily="34" charset="-120"/>
              </a:rPr>
              <a:t>LAGOS UNIVERSITY TEACHING HOSPITAL (LUTH)</a:t>
            </a:r>
            <a:endParaRPr lang="en-US" sz="2200" dirty="0"/>
          </a:p>
        </p:txBody>
      </p:sp>
      <p:sp>
        <p:nvSpPr>
          <p:cNvPr id="6" name="Shape 4"/>
          <p:cNvSpPr/>
          <p:nvPr/>
        </p:nvSpPr>
        <p:spPr>
          <a:xfrm>
            <a:off x="365760" y="1920240"/>
            <a:ext cx="3200400" cy="45720"/>
          </a:xfrm>
          <a:prstGeom prst="rect">
            <a:avLst/>
          </a:prstGeom>
          <a:solidFill>
            <a:srgbClr val="0D9488"/>
          </a:solidFill>
          <a:ln w="12700">
            <a:solidFill>
              <a:srgbClr val="0D9488"/>
            </a:solidFill>
            <a:prstDash val="solid"/>
          </a:ln>
        </p:spPr>
      </p:sp>
      <p:sp>
        <p:nvSpPr>
          <p:cNvPr id="7" name="Text 5"/>
          <p:cNvSpPr/>
          <p:nvPr/>
        </p:nvSpPr>
        <p:spPr>
          <a:xfrm>
            <a:off x="365760" y="2414778"/>
            <a:ext cx="8412480" cy="524866"/>
          </a:xfrm>
          <a:prstGeom prst="rect">
            <a:avLst/>
          </a:prstGeom>
          <a:noFill/>
          <a:ln/>
        </p:spPr>
        <p:txBody>
          <a:bodyPr wrap="square" rtlCol="0" anchor="ctr"/>
          <a:lstStyle/>
          <a:p>
            <a:pPr marL="0" indent="0" algn="ctr">
              <a:buNone/>
            </a:pPr>
            <a:r>
              <a:rPr lang="en-US" sz="1200" b="1" dirty="0">
                <a:solidFill>
                  <a:srgbClr val="94A3B8"/>
                </a:solidFill>
                <a:latin typeface="Calibri" pitchFamily="34" charset="0"/>
                <a:ea typeface="Calibri" pitchFamily="34" charset="-122"/>
                <a:cs typeface="Calibri" pitchFamily="34" charset="-120"/>
              </a:rPr>
              <a:t>MSc Biomedical Engineering 2025/2026  |  Group 1  |  College of Medicine, University of Lagos</a:t>
            </a:r>
          </a:p>
          <a:p>
            <a:pPr marL="0" indent="0" algn="ctr">
              <a:buNone/>
            </a:pPr>
            <a:r>
              <a:rPr lang="en-US" sz="1200" b="1" dirty="0">
                <a:solidFill>
                  <a:srgbClr val="94A3B8"/>
                </a:solidFill>
                <a:latin typeface="Calibri" pitchFamily="34" charset="0"/>
                <a:cs typeface="Calibri" pitchFamily="34" charset="-120"/>
              </a:rPr>
              <a:t>By:</a:t>
            </a:r>
          </a:p>
          <a:p>
            <a:pPr marL="0" indent="0" algn="ctr">
              <a:buNone/>
            </a:pPr>
            <a:r>
              <a:rPr lang="en-US" sz="1200" b="1" dirty="0">
                <a:solidFill>
                  <a:srgbClr val="94A3B8"/>
                </a:solidFill>
                <a:latin typeface="Calibri" pitchFamily="34" charset="0"/>
                <a:cs typeface="Calibri" pitchFamily="34" charset="-120"/>
              </a:rPr>
              <a:t>AGBAI, Sunny Okonkwo; AJASA, James; </a:t>
            </a:r>
          </a:p>
          <a:p>
            <a:pPr marL="0" indent="0" algn="ctr">
              <a:buNone/>
            </a:pPr>
            <a:r>
              <a:rPr lang="en-US" sz="1200" b="1" dirty="0">
                <a:solidFill>
                  <a:srgbClr val="94A3B8"/>
                </a:solidFill>
                <a:latin typeface="Calibri" pitchFamily="34" charset="0"/>
                <a:cs typeface="Calibri" pitchFamily="34" charset="-120"/>
              </a:rPr>
              <a:t>NNAEKWE, Onyinyechukwu</a:t>
            </a:r>
          </a:p>
        </p:txBody>
      </p:sp>
      <p:sp>
        <p:nvSpPr>
          <p:cNvPr id="8" name="Text 6"/>
          <p:cNvSpPr/>
          <p:nvPr/>
        </p:nvSpPr>
        <p:spPr>
          <a:xfrm>
            <a:off x="365760" y="3131820"/>
            <a:ext cx="8412480" cy="411480"/>
          </a:xfrm>
          <a:prstGeom prst="rect">
            <a:avLst/>
          </a:prstGeom>
          <a:noFill/>
          <a:ln/>
        </p:spPr>
        <p:txBody>
          <a:bodyPr wrap="square" rtlCol="0" anchor="ctr"/>
          <a:lstStyle/>
          <a:p>
            <a:pPr marL="0" indent="0" algn="ctr">
              <a:buNone/>
            </a:pPr>
            <a:r>
              <a:rPr lang="en-US" sz="1400" b="1" dirty="0">
                <a:solidFill>
                  <a:srgbClr val="F1F5F9"/>
                </a:solidFill>
                <a:latin typeface="Calibri" pitchFamily="34" charset="0"/>
                <a:ea typeface="Calibri" pitchFamily="34" charset="-122"/>
                <a:cs typeface="Calibri" pitchFamily="34" charset="-120"/>
              </a:rPr>
              <a:t>Health Informatics &amp; Management Information System (BME 806) module: Develop a GUI-based application to manage patient records, appointments, and prescriptions</a:t>
            </a:r>
            <a:endParaRPr lang="en-US" sz="1400" b="1" dirty="0"/>
          </a:p>
        </p:txBody>
      </p:sp>
      <p:sp>
        <p:nvSpPr>
          <p:cNvPr id="9" name="Shape 7"/>
          <p:cNvSpPr/>
          <p:nvPr/>
        </p:nvSpPr>
        <p:spPr>
          <a:xfrm>
            <a:off x="365760" y="3703320"/>
            <a:ext cx="1920240" cy="1005840"/>
          </a:xfrm>
          <a:prstGeom prst="rect">
            <a:avLst/>
          </a:prstGeom>
          <a:solidFill>
            <a:srgbClr val="1A2E5A"/>
          </a:solidFill>
          <a:ln w="19050">
            <a:solidFill>
              <a:srgbClr val="0D9488"/>
            </a:solidFill>
            <a:prstDash val="solid"/>
          </a:ln>
          <a:effectLst>
            <a:outerShdw blurRad="63500" dist="25400" dir="8100000" algn="bl" rotWithShape="0">
              <a:srgbClr val="000000">
                <a:alpha val="22000"/>
              </a:srgbClr>
            </a:outerShdw>
          </a:effectLst>
        </p:spPr>
      </p:sp>
      <p:sp>
        <p:nvSpPr>
          <p:cNvPr id="10" name="Text 8"/>
          <p:cNvSpPr/>
          <p:nvPr/>
        </p:nvSpPr>
        <p:spPr>
          <a:xfrm>
            <a:off x="365760" y="3704844"/>
            <a:ext cx="1920240" cy="563270"/>
          </a:xfrm>
          <a:prstGeom prst="rect">
            <a:avLst/>
          </a:prstGeom>
          <a:noFill/>
          <a:ln/>
        </p:spPr>
        <p:txBody>
          <a:bodyPr wrap="square" lIns="0" tIns="0" rIns="0" bIns="0" rtlCol="0" anchor="ctr"/>
          <a:lstStyle/>
          <a:p>
            <a:pPr marL="0" indent="0" algn="ctr">
              <a:buNone/>
            </a:pPr>
            <a:r>
              <a:rPr lang="en-US" sz="2200" b="1" dirty="0">
                <a:solidFill>
                  <a:srgbClr val="0D9488"/>
                </a:solidFill>
                <a:latin typeface="Calibri" pitchFamily="34" charset="0"/>
                <a:ea typeface="Calibri" pitchFamily="34" charset="-122"/>
                <a:cs typeface="Calibri" pitchFamily="34" charset="-120"/>
              </a:rPr>
              <a:t>Python 3.x</a:t>
            </a:r>
            <a:endParaRPr lang="en-US" sz="2200" dirty="0"/>
          </a:p>
        </p:txBody>
      </p:sp>
      <p:sp>
        <p:nvSpPr>
          <p:cNvPr id="11" name="Text 9"/>
          <p:cNvSpPr/>
          <p:nvPr/>
        </p:nvSpPr>
        <p:spPr>
          <a:xfrm>
            <a:off x="365760" y="4317492"/>
            <a:ext cx="1920240" cy="402336"/>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Language</a:t>
            </a:r>
            <a:endParaRPr lang="en-US" sz="950" dirty="0"/>
          </a:p>
        </p:txBody>
      </p:sp>
      <p:sp>
        <p:nvSpPr>
          <p:cNvPr id="12" name="Shape 10"/>
          <p:cNvSpPr/>
          <p:nvPr/>
        </p:nvSpPr>
        <p:spPr>
          <a:xfrm>
            <a:off x="2487168" y="3710940"/>
            <a:ext cx="1920240" cy="1005840"/>
          </a:xfrm>
          <a:prstGeom prst="rect">
            <a:avLst/>
          </a:prstGeom>
          <a:solidFill>
            <a:srgbClr val="1A2E5A"/>
          </a:solidFill>
          <a:ln w="19050">
            <a:solidFill>
              <a:srgbClr val="0D9488"/>
            </a:solidFill>
            <a:prstDash val="solid"/>
          </a:ln>
          <a:effectLst>
            <a:outerShdw blurRad="63500" dist="25400" dir="8100000" algn="bl" rotWithShape="0">
              <a:srgbClr val="000000">
                <a:alpha val="22000"/>
              </a:srgbClr>
            </a:outerShdw>
          </a:effectLst>
        </p:spPr>
      </p:sp>
      <p:sp>
        <p:nvSpPr>
          <p:cNvPr id="13" name="Text 11"/>
          <p:cNvSpPr/>
          <p:nvPr/>
        </p:nvSpPr>
        <p:spPr>
          <a:xfrm>
            <a:off x="2487168" y="3712464"/>
            <a:ext cx="1920240" cy="563270"/>
          </a:xfrm>
          <a:prstGeom prst="rect">
            <a:avLst/>
          </a:prstGeom>
          <a:noFill/>
          <a:ln/>
        </p:spPr>
        <p:txBody>
          <a:bodyPr wrap="square" lIns="0" tIns="0" rIns="0" bIns="0" rtlCol="0" anchor="ctr"/>
          <a:lstStyle/>
          <a:p>
            <a:pPr marL="0" indent="0" algn="ctr">
              <a:buNone/>
            </a:pPr>
            <a:r>
              <a:rPr lang="en-US" sz="2200" b="1" dirty="0">
                <a:solidFill>
                  <a:srgbClr val="0D9488"/>
                </a:solidFill>
                <a:latin typeface="Calibri" pitchFamily="34" charset="0"/>
                <a:ea typeface="Calibri" pitchFamily="34" charset="-122"/>
                <a:cs typeface="Calibri" pitchFamily="34" charset="-120"/>
              </a:rPr>
              <a:t>ipywidgets</a:t>
            </a:r>
            <a:endParaRPr lang="en-US" sz="2200" dirty="0"/>
          </a:p>
        </p:txBody>
      </p:sp>
      <p:sp>
        <p:nvSpPr>
          <p:cNvPr id="14" name="Text 12"/>
          <p:cNvSpPr/>
          <p:nvPr/>
        </p:nvSpPr>
        <p:spPr>
          <a:xfrm>
            <a:off x="2487168" y="4325112"/>
            <a:ext cx="1920240" cy="402336"/>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GUI Framework</a:t>
            </a:r>
            <a:endParaRPr lang="en-US" sz="950" dirty="0"/>
          </a:p>
        </p:txBody>
      </p:sp>
      <p:sp>
        <p:nvSpPr>
          <p:cNvPr id="15" name="Shape 13"/>
          <p:cNvSpPr/>
          <p:nvPr/>
        </p:nvSpPr>
        <p:spPr>
          <a:xfrm>
            <a:off x="4608576" y="3710940"/>
            <a:ext cx="1920240" cy="1005840"/>
          </a:xfrm>
          <a:prstGeom prst="rect">
            <a:avLst/>
          </a:prstGeom>
          <a:solidFill>
            <a:srgbClr val="1A2E5A"/>
          </a:solidFill>
          <a:ln w="19050">
            <a:solidFill>
              <a:srgbClr val="0D9488"/>
            </a:solidFill>
            <a:prstDash val="solid"/>
          </a:ln>
          <a:effectLst>
            <a:outerShdw blurRad="63500" dist="25400" dir="8100000" algn="bl" rotWithShape="0">
              <a:srgbClr val="000000">
                <a:alpha val="22000"/>
              </a:srgbClr>
            </a:outerShdw>
          </a:effectLst>
        </p:spPr>
      </p:sp>
      <p:sp>
        <p:nvSpPr>
          <p:cNvPr id="16" name="Text 14"/>
          <p:cNvSpPr/>
          <p:nvPr/>
        </p:nvSpPr>
        <p:spPr>
          <a:xfrm>
            <a:off x="4608576" y="3712464"/>
            <a:ext cx="1920240" cy="563270"/>
          </a:xfrm>
          <a:prstGeom prst="rect">
            <a:avLst/>
          </a:prstGeom>
          <a:noFill/>
          <a:ln/>
        </p:spPr>
        <p:txBody>
          <a:bodyPr wrap="square" lIns="0" tIns="0" rIns="0" bIns="0" rtlCol="0" anchor="ctr"/>
          <a:lstStyle/>
          <a:p>
            <a:pPr marL="0" indent="0" algn="ctr">
              <a:buNone/>
            </a:pPr>
            <a:r>
              <a:rPr lang="en-US" sz="2200" b="1" dirty="0">
                <a:solidFill>
                  <a:srgbClr val="0D9488"/>
                </a:solidFill>
                <a:latin typeface="Calibri" pitchFamily="34" charset="0"/>
                <a:ea typeface="Calibri" pitchFamily="34" charset="-122"/>
                <a:cs typeface="Calibri" pitchFamily="34" charset="-120"/>
              </a:rPr>
              <a:t>Jupyter/Colab</a:t>
            </a:r>
            <a:endParaRPr lang="en-US" sz="2200" dirty="0"/>
          </a:p>
        </p:txBody>
      </p:sp>
      <p:sp>
        <p:nvSpPr>
          <p:cNvPr id="17" name="Text 15"/>
          <p:cNvSpPr/>
          <p:nvPr/>
        </p:nvSpPr>
        <p:spPr>
          <a:xfrm>
            <a:off x="4608576" y="4309872"/>
            <a:ext cx="1920240" cy="402336"/>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Platform</a:t>
            </a:r>
            <a:endParaRPr lang="en-US" sz="950" dirty="0"/>
          </a:p>
        </p:txBody>
      </p:sp>
      <p:sp>
        <p:nvSpPr>
          <p:cNvPr id="18" name="Shape 16"/>
          <p:cNvSpPr/>
          <p:nvPr/>
        </p:nvSpPr>
        <p:spPr>
          <a:xfrm>
            <a:off x="6729984" y="3710940"/>
            <a:ext cx="1920240" cy="1005840"/>
          </a:xfrm>
          <a:prstGeom prst="rect">
            <a:avLst/>
          </a:prstGeom>
          <a:solidFill>
            <a:srgbClr val="1A2E5A"/>
          </a:solidFill>
          <a:ln w="19050">
            <a:solidFill>
              <a:srgbClr val="0D9488"/>
            </a:solidFill>
            <a:prstDash val="solid"/>
          </a:ln>
          <a:effectLst>
            <a:outerShdw blurRad="63500" dist="25400" dir="8100000" algn="bl" rotWithShape="0">
              <a:srgbClr val="000000">
                <a:alpha val="22000"/>
              </a:srgbClr>
            </a:outerShdw>
          </a:effectLst>
        </p:spPr>
      </p:sp>
      <p:sp>
        <p:nvSpPr>
          <p:cNvPr id="19" name="Text 17"/>
          <p:cNvSpPr/>
          <p:nvPr/>
        </p:nvSpPr>
        <p:spPr>
          <a:xfrm>
            <a:off x="6729984" y="3720084"/>
            <a:ext cx="1920240" cy="563270"/>
          </a:xfrm>
          <a:prstGeom prst="rect">
            <a:avLst/>
          </a:prstGeom>
          <a:noFill/>
          <a:ln/>
        </p:spPr>
        <p:txBody>
          <a:bodyPr wrap="square" lIns="0" tIns="0" rIns="0" bIns="0" rtlCol="0" anchor="ctr"/>
          <a:lstStyle/>
          <a:p>
            <a:pPr marL="0" indent="0" algn="ctr">
              <a:buNone/>
            </a:pPr>
            <a:r>
              <a:rPr lang="en-US" sz="2200" b="1" dirty="0">
                <a:solidFill>
                  <a:srgbClr val="0D9488"/>
                </a:solidFill>
                <a:latin typeface="Calibri" pitchFamily="34" charset="0"/>
                <a:ea typeface="Calibri" pitchFamily="34" charset="-122"/>
                <a:cs typeface="Calibri" pitchFamily="34" charset="-120"/>
              </a:rPr>
              <a:t>0</a:t>
            </a:r>
            <a:endParaRPr lang="en-US" sz="2200" dirty="0"/>
          </a:p>
        </p:txBody>
      </p:sp>
      <p:sp>
        <p:nvSpPr>
          <p:cNvPr id="20" name="Text 18"/>
          <p:cNvSpPr/>
          <p:nvPr/>
        </p:nvSpPr>
        <p:spPr>
          <a:xfrm>
            <a:off x="6729984" y="4309872"/>
            <a:ext cx="1920240" cy="402336"/>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Database</a:t>
            </a:r>
            <a:endParaRPr lang="en-US" sz="950" dirty="0"/>
          </a:p>
          <a:p>
            <a:pPr marL="0" indent="0" algn="ctr">
              <a:buNone/>
            </a:pPr>
            <a:r>
              <a:rPr lang="en-US" sz="950" dirty="0">
                <a:solidFill>
                  <a:srgbClr val="94A3B8"/>
                </a:solidFill>
                <a:latin typeface="Calibri" pitchFamily="34" charset="0"/>
                <a:ea typeface="Calibri" pitchFamily="34" charset="-122"/>
                <a:cs typeface="Calibri" pitchFamily="34" charset="-120"/>
              </a:rPr>
              <a:t>Required</a:t>
            </a:r>
            <a:endParaRPr lang="en-US" sz="950" dirty="0"/>
          </a:p>
        </p:txBody>
      </p:sp>
      <p:sp>
        <p:nvSpPr>
          <p:cNvPr id="21" name="Text 19"/>
          <p:cNvSpPr/>
          <p:nvPr/>
        </p:nvSpPr>
        <p:spPr>
          <a:xfrm>
            <a:off x="365760" y="4709160"/>
            <a:ext cx="3657600" cy="22860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February 2026</a:t>
            </a:r>
            <a:endParaRPr lang="en-US" sz="1000" dirty="0"/>
          </a:p>
        </p:txBody>
      </p:sp>
      <p:pic>
        <p:nvPicPr>
          <p:cNvPr id="23" name="Picture 22">
            <a:extLst>
              <a:ext uri="{FF2B5EF4-FFF2-40B4-BE49-F238E27FC236}">
                <a16:creationId xmlns:a16="http://schemas.microsoft.com/office/drawing/2014/main" id="{21935999-BC74-D28E-C9D9-4E6F77229A6C}"/>
              </a:ext>
            </a:extLst>
          </p:cNvPr>
          <p:cNvPicPr>
            <a:picLocks noChangeAspect="1"/>
          </p:cNvPicPr>
          <p:nvPr/>
        </p:nvPicPr>
        <p:blipFill>
          <a:blip r:embed="rId3"/>
          <a:stretch>
            <a:fillRect/>
          </a:stretch>
        </p:blipFill>
        <p:spPr>
          <a:xfrm>
            <a:off x="103632" y="564185"/>
            <a:ext cx="959174" cy="950976"/>
          </a:xfrm>
          <a:prstGeom prst="rect">
            <a:avLst/>
          </a:prstGeom>
        </p:spPr>
      </p:pic>
      <p:pic>
        <p:nvPicPr>
          <p:cNvPr id="25" name="Picture 24">
            <a:extLst>
              <a:ext uri="{FF2B5EF4-FFF2-40B4-BE49-F238E27FC236}">
                <a16:creationId xmlns:a16="http://schemas.microsoft.com/office/drawing/2014/main" id="{9C5D3771-1087-E252-00B1-9F71CA3148F2}"/>
              </a:ext>
            </a:extLst>
          </p:cNvPr>
          <p:cNvPicPr>
            <a:picLocks noChangeAspect="1"/>
          </p:cNvPicPr>
          <p:nvPr/>
        </p:nvPicPr>
        <p:blipFill>
          <a:blip r:embed="rId4"/>
          <a:stretch>
            <a:fillRect/>
          </a:stretch>
        </p:blipFill>
        <p:spPr>
          <a:xfrm>
            <a:off x="8093583" y="698812"/>
            <a:ext cx="946785" cy="8649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366"/>
          </a:solidFill>
          <a:ln w="12700">
            <a:solidFill>
              <a:srgbClr val="003366"/>
            </a:solidFill>
            <a:prstDash val="solid"/>
          </a:ln>
        </p:spPr>
      </p:sp>
      <p:sp>
        <p:nvSpPr>
          <p:cNvPr id="3" name="Text 1"/>
          <p:cNvSpPr/>
          <p:nvPr/>
        </p:nvSpPr>
        <p:spPr>
          <a:xfrm>
            <a:off x="320040" y="0"/>
            <a:ext cx="8503920" cy="804672"/>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Presentation Agenda</a:t>
            </a:r>
            <a:endParaRPr lang="en-US" sz="2400" dirty="0"/>
          </a:p>
        </p:txBody>
      </p:sp>
      <p:sp>
        <p:nvSpPr>
          <p:cNvPr id="4" name="Shape 2"/>
          <p:cNvSpPr/>
          <p:nvPr/>
        </p:nvSpPr>
        <p:spPr>
          <a:xfrm>
            <a:off x="365760" y="1078992"/>
            <a:ext cx="402336" cy="402336"/>
          </a:xfrm>
          <a:prstGeom prst="rect">
            <a:avLst/>
          </a:prstGeom>
          <a:solidFill>
            <a:srgbClr val="0D9488"/>
          </a:solidFill>
          <a:ln w="12700">
            <a:solidFill>
              <a:srgbClr val="0D9488"/>
            </a:solidFill>
            <a:prstDash val="solid"/>
          </a:ln>
        </p:spPr>
      </p:sp>
      <p:sp>
        <p:nvSpPr>
          <p:cNvPr id="5" name="Text 3"/>
          <p:cNvSpPr/>
          <p:nvPr/>
        </p:nvSpPr>
        <p:spPr>
          <a:xfrm>
            <a:off x="365760" y="1115568"/>
            <a:ext cx="402336"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6" name="Text 4"/>
          <p:cNvSpPr/>
          <p:nvPr/>
        </p:nvSpPr>
        <p:spPr>
          <a:xfrm>
            <a:off x="859536" y="1143000"/>
            <a:ext cx="4023360" cy="274320"/>
          </a:xfrm>
          <a:prstGeom prst="rect">
            <a:avLst/>
          </a:prstGeom>
          <a:noFill/>
          <a:ln/>
        </p:spPr>
        <p:txBody>
          <a:bodyPr wrap="square" lIns="0" tIns="0" rIns="0" bIns="0" rtlCol="0" anchor="ctr"/>
          <a:lstStyle/>
          <a:p>
            <a:pPr marL="0" indent="0">
              <a:buNone/>
            </a:pPr>
            <a:r>
              <a:rPr lang="en-US" sz="1400" b="1" dirty="0">
                <a:solidFill>
                  <a:srgbClr val="F1F5F9"/>
                </a:solidFill>
                <a:latin typeface="Calibri" pitchFamily="34" charset="0"/>
                <a:ea typeface="Calibri" pitchFamily="34" charset="-122"/>
                <a:cs typeface="Calibri" pitchFamily="34" charset="-120"/>
              </a:rPr>
              <a:t>Introduction &amp; Background</a:t>
            </a:r>
            <a:endParaRPr lang="en-US" sz="1400" b="1" dirty="0"/>
          </a:p>
        </p:txBody>
      </p:sp>
      <p:sp>
        <p:nvSpPr>
          <p:cNvPr id="7" name="Shape 5"/>
          <p:cNvSpPr/>
          <p:nvPr/>
        </p:nvSpPr>
        <p:spPr>
          <a:xfrm>
            <a:off x="365760" y="1810512"/>
            <a:ext cx="402336" cy="402336"/>
          </a:xfrm>
          <a:prstGeom prst="rect">
            <a:avLst/>
          </a:prstGeom>
          <a:solidFill>
            <a:srgbClr val="0D9488"/>
          </a:solidFill>
          <a:ln w="12700">
            <a:solidFill>
              <a:srgbClr val="0D9488"/>
            </a:solidFill>
            <a:prstDash val="solid"/>
          </a:ln>
        </p:spPr>
      </p:sp>
      <p:sp>
        <p:nvSpPr>
          <p:cNvPr id="8" name="Text 6"/>
          <p:cNvSpPr/>
          <p:nvPr/>
        </p:nvSpPr>
        <p:spPr>
          <a:xfrm>
            <a:off x="365760" y="1847088"/>
            <a:ext cx="402336"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9" name="Text 7"/>
          <p:cNvSpPr/>
          <p:nvPr/>
        </p:nvSpPr>
        <p:spPr>
          <a:xfrm>
            <a:off x="859536" y="1874520"/>
            <a:ext cx="4023360" cy="274320"/>
          </a:xfrm>
          <a:prstGeom prst="rect">
            <a:avLst/>
          </a:prstGeom>
          <a:noFill/>
          <a:ln/>
        </p:spPr>
        <p:txBody>
          <a:bodyPr wrap="square" lIns="0" tIns="0" rIns="0" bIns="0" rtlCol="0" anchor="ctr"/>
          <a:lstStyle/>
          <a:p>
            <a:pPr marL="0" indent="0">
              <a:buNone/>
            </a:pPr>
            <a:r>
              <a:rPr lang="en-US" sz="1400" b="1" dirty="0">
                <a:solidFill>
                  <a:srgbClr val="F1F5F9"/>
                </a:solidFill>
                <a:latin typeface="Calibri" pitchFamily="34" charset="0"/>
                <a:ea typeface="Calibri" pitchFamily="34" charset="-122"/>
                <a:cs typeface="Calibri" pitchFamily="34" charset="-120"/>
              </a:rPr>
              <a:t>Project Assignment &amp; Objectives</a:t>
            </a:r>
            <a:endParaRPr lang="en-US" sz="1400" b="1" dirty="0"/>
          </a:p>
        </p:txBody>
      </p:sp>
      <p:sp>
        <p:nvSpPr>
          <p:cNvPr id="10" name="Shape 8"/>
          <p:cNvSpPr/>
          <p:nvPr/>
        </p:nvSpPr>
        <p:spPr>
          <a:xfrm>
            <a:off x="365760" y="2542032"/>
            <a:ext cx="402336" cy="402336"/>
          </a:xfrm>
          <a:prstGeom prst="rect">
            <a:avLst/>
          </a:prstGeom>
          <a:solidFill>
            <a:srgbClr val="0D9488"/>
          </a:solidFill>
          <a:ln w="12700">
            <a:solidFill>
              <a:srgbClr val="0D9488"/>
            </a:solidFill>
            <a:prstDash val="solid"/>
          </a:ln>
        </p:spPr>
      </p:sp>
      <p:sp>
        <p:nvSpPr>
          <p:cNvPr id="11" name="Text 9"/>
          <p:cNvSpPr/>
          <p:nvPr/>
        </p:nvSpPr>
        <p:spPr>
          <a:xfrm>
            <a:off x="365760" y="2578608"/>
            <a:ext cx="402336"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2" name="Text 10"/>
          <p:cNvSpPr/>
          <p:nvPr/>
        </p:nvSpPr>
        <p:spPr>
          <a:xfrm>
            <a:off x="859536" y="2606040"/>
            <a:ext cx="4023360" cy="274320"/>
          </a:xfrm>
          <a:prstGeom prst="rect">
            <a:avLst/>
          </a:prstGeom>
          <a:noFill/>
          <a:ln/>
        </p:spPr>
        <p:txBody>
          <a:bodyPr wrap="square" lIns="0" tIns="0" rIns="0" bIns="0" rtlCol="0" anchor="ctr"/>
          <a:lstStyle/>
          <a:p>
            <a:pPr marL="0" indent="0">
              <a:buNone/>
            </a:pPr>
            <a:r>
              <a:rPr lang="en-US" sz="1400" b="1" dirty="0">
                <a:solidFill>
                  <a:srgbClr val="F1F5F9"/>
                </a:solidFill>
                <a:latin typeface="Calibri" pitchFamily="34" charset="0"/>
                <a:ea typeface="Calibri" pitchFamily="34" charset="-122"/>
                <a:cs typeface="Calibri" pitchFamily="34" charset="-120"/>
              </a:rPr>
              <a:t>System Architecture &amp; Technologies</a:t>
            </a:r>
            <a:endParaRPr lang="en-US" sz="1400" b="1" dirty="0"/>
          </a:p>
        </p:txBody>
      </p:sp>
      <p:sp>
        <p:nvSpPr>
          <p:cNvPr id="13" name="Shape 11"/>
          <p:cNvSpPr/>
          <p:nvPr/>
        </p:nvSpPr>
        <p:spPr>
          <a:xfrm>
            <a:off x="365760" y="3273552"/>
            <a:ext cx="402336" cy="402336"/>
          </a:xfrm>
          <a:prstGeom prst="rect">
            <a:avLst/>
          </a:prstGeom>
          <a:solidFill>
            <a:srgbClr val="0D9488"/>
          </a:solidFill>
          <a:ln w="12700">
            <a:solidFill>
              <a:srgbClr val="0D9488"/>
            </a:solidFill>
            <a:prstDash val="solid"/>
          </a:ln>
        </p:spPr>
      </p:sp>
      <p:sp>
        <p:nvSpPr>
          <p:cNvPr id="14" name="Text 12"/>
          <p:cNvSpPr/>
          <p:nvPr/>
        </p:nvSpPr>
        <p:spPr>
          <a:xfrm>
            <a:off x="365760" y="3310128"/>
            <a:ext cx="402336"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15" name="Text 13"/>
          <p:cNvSpPr/>
          <p:nvPr/>
        </p:nvSpPr>
        <p:spPr>
          <a:xfrm>
            <a:off x="859536" y="3337560"/>
            <a:ext cx="4023360" cy="274320"/>
          </a:xfrm>
          <a:prstGeom prst="rect">
            <a:avLst/>
          </a:prstGeom>
          <a:noFill/>
          <a:ln/>
        </p:spPr>
        <p:txBody>
          <a:bodyPr wrap="square" lIns="0" tIns="0" rIns="0" bIns="0" rtlCol="0" anchor="ctr"/>
          <a:lstStyle/>
          <a:p>
            <a:pPr marL="0" indent="0">
              <a:buNone/>
            </a:pPr>
            <a:r>
              <a:rPr lang="en-US" sz="1400" b="1" dirty="0">
                <a:solidFill>
                  <a:srgbClr val="F1F5F9"/>
                </a:solidFill>
                <a:latin typeface="Calibri" pitchFamily="34" charset="0"/>
                <a:ea typeface="Calibri" pitchFamily="34" charset="-122"/>
                <a:cs typeface="Calibri" pitchFamily="34" charset="-120"/>
              </a:rPr>
              <a:t>Flow Diagram — System Logic</a:t>
            </a:r>
            <a:endParaRPr lang="en-US" sz="1400" b="1" dirty="0"/>
          </a:p>
        </p:txBody>
      </p:sp>
      <p:sp>
        <p:nvSpPr>
          <p:cNvPr id="16" name="Shape 14"/>
          <p:cNvSpPr/>
          <p:nvPr/>
        </p:nvSpPr>
        <p:spPr>
          <a:xfrm>
            <a:off x="365760" y="4005072"/>
            <a:ext cx="402336" cy="402336"/>
          </a:xfrm>
          <a:prstGeom prst="rect">
            <a:avLst/>
          </a:prstGeom>
          <a:solidFill>
            <a:srgbClr val="0D9488"/>
          </a:solidFill>
          <a:ln w="12700">
            <a:solidFill>
              <a:srgbClr val="0D9488"/>
            </a:solidFill>
            <a:prstDash val="solid"/>
          </a:ln>
        </p:spPr>
      </p:sp>
      <p:sp>
        <p:nvSpPr>
          <p:cNvPr id="17" name="Text 15"/>
          <p:cNvSpPr/>
          <p:nvPr/>
        </p:nvSpPr>
        <p:spPr>
          <a:xfrm>
            <a:off x="365760" y="4041648"/>
            <a:ext cx="402336"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18" name="Text 16"/>
          <p:cNvSpPr/>
          <p:nvPr/>
        </p:nvSpPr>
        <p:spPr>
          <a:xfrm>
            <a:off x="859536" y="4069080"/>
            <a:ext cx="4023360" cy="274320"/>
          </a:xfrm>
          <a:prstGeom prst="rect">
            <a:avLst/>
          </a:prstGeom>
          <a:noFill/>
          <a:ln/>
        </p:spPr>
        <p:txBody>
          <a:bodyPr wrap="square" lIns="0" tIns="0" rIns="0" bIns="0" rtlCol="0" anchor="ctr"/>
          <a:lstStyle/>
          <a:p>
            <a:pPr marL="0" indent="0">
              <a:buNone/>
            </a:pPr>
            <a:r>
              <a:rPr lang="en-US" sz="1400" b="1" dirty="0">
                <a:solidFill>
                  <a:srgbClr val="F1F5F9"/>
                </a:solidFill>
                <a:latin typeface="Calibri" pitchFamily="34" charset="0"/>
                <a:ea typeface="Calibri" pitchFamily="34" charset="-122"/>
                <a:cs typeface="Calibri" pitchFamily="34" charset="-120"/>
              </a:rPr>
              <a:t>Tab 1: Register New Patient</a:t>
            </a:r>
            <a:endParaRPr lang="en-US" sz="1400" b="1" dirty="0"/>
          </a:p>
        </p:txBody>
      </p:sp>
      <p:sp>
        <p:nvSpPr>
          <p:cNvPr id="19" name="Shape 17"/>
          <p:cNvSpPr/>
          <p:nvPr/>
        </p:nvSpPr>
        <p:spPr>
          <a:xfrm>
            <a:off x="4754880" y="1078992"/>
            <a:ext cx="402336" cy="402336"/>
          </a:xfrm>
          <a:prstGeom prst="rect">
            <a:avLst/>
          </a:prstGeom>
          <a:solidFill>
            <a:srgbClr val="0D9488"/>
          </a:solidFill>
          <a:ln w="12700">
            <a:solidFill>
              <a:srgbClr val="0D9488"/>
            </a:solidFill>
            <a:prstDash val="solid"/>
          </a:ln>
        </p:spPr>
      </p:sp>
      <p:sp>
        <p:nvSpPr>
          <p:cNvPr id="20" name="Text 18"/>
          <p:cNvSpPr/>
          <p:nvPr/>
        </p:nvSpPr>
        <p:spPr>
          <a:xfrm>
            <a:off x="4754880" y="1115568"/>
            <a:ext cx="402336"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21" name="Text 19"/>
          <p:cNvSpPr/>
          <p:nvPr/>
        </p:nvSpPr>
        <p:spPr>
          <a:xfrm>
            <a:off x="5248656" y="1143000"/>
            <a:ext cx="4023360" cy="274320"/>
          </a:xfrm>
          <a:prstGeom prst="rect">
            <a:avLst/>
          </a:prstGeom>
          <a:noFill/>
          <a:ln/>
        </p:spPr>
        <p:txBody>
          <a:bodyPr wrap="square" lIns="0" tIns="0" rIns="0" bIns="0" rtlCol="0" anchor="ctr"/>
          <a:lstStyle/>
          <a:p>
            <a:pPr marL="0" indent="0">
              <a:buNone/>
            </a:pPr>
            <a:r>
              <a:rPr lang="en-US" sz="1400" b="1" dirty="0">
                <a:solidFill>
                  <a:srgbClr val="F1F5F9"/>
                </a:solidFill>
                <a:latin typeface="Calibri" pitchFamily="34" charset="0"/>
                <a:ea typeface="Calibri" pitchFamily="34" charset="-122"/>
                <a:cs typeface="Calibri" pitchFamily="34" charset="-120"/>
              </a:rPr>
              <a:t>Tab 2: Patient Records</a:t>
            </a:r>
            <a:endParaRPr lang="en-US" sz="1400" b="1" dirty="0"/>
          </a:p>
        </p:txBody>
      </p:sp>
      <p:sp>
        <p:nvSpPr>
          <p:cNvPr id="22" name="Shape 20"/>
          <p:cNvSpPr/>
          <p:nvPr/>
        </p:nvSpPr>
        <p:spPr>
          <a:xfrm>
            <a:off x="4754880" y="1810512"/>
            <a:ext cx="402336" cy="402336"/>
          </a:xfrm>
          <a:prstGeom prst="rect">
            <a:avLst/>
          </a:prstGeom>
          <a:solidFill>
            <a:srgbClr val="0D9488"/>
          </a:solidFill>
          <a:ln w="12700">
            <a:solidFill>
              <a:srgbClr val="0D9488"/>
            </a:solidFill>
            <a:prstDash val="solid"/>
          </a:ln>
        </p:spPr>
      </p:sp>
      <p:sp>
        <p:nvSpPr>
          <p:cNvPr id="23" name="Text 21"/>
          <p:cNvSpPr/>
          <p:nvPr/>
        </p:nvSpPr>
        <p:spPr>
          <a:xfrm>
            <a:off x="4754880" y="1847088"/>
            <a:ext cx="402336"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07</a:t>
            </a:r>
            <a:endParaRPr lang="en-US" sz="1200" dirty="0"/>
          </a:p>
        </p:txBody>
      </p:sp>
      <p:sp>
        <p:nvSpPr>
          <p:cNvPr id="24" name="Text 22"/>
          <p:cNvSpPr/>
          <p:nvPr/>
        </p:nvSpPr>
        <p:spPr>
          <a:xfrm>
            <a:off x="5248656" y="1874520"/>
            <a:ext cx="4023360" cy="274320"/>
          </a:xfrm>
          <a:prstGeom prst="rect">
            <a:avLst/>
          </a:prstGeom>
          <a:noFill/>
          <a:ln/>
        </p:spPr>
        <p:txBody>
          <a:bodyPr wrap="square" lIns="0" tIns="0" rIns="0" bIns="0" rtlCol="0" anchor="ctr"/>
          <a:lstStyle/>
          <a:p>
            <a:pPr marL="0" indent="0">
              <a:buNone/>
            </a:pPr>
            <a:r>
              <a:rPr lang="en-US" sz="1400" b="1" dirty="0">
                <a:solidFill>
                  <a:srgbClr val="F1F5F9"/>
                </a:solidFill>
                <a:latin typeface="Calibri" pitchFamily="34" charset="0"/>
                <a:ea typeface="Calibri" pitchFamily="34" charset="-122"/>
                <a:cs typeface="Calibri" pitchFamily="34" charset="-120"/>
              </a:rPr>
              <a:t>Tab 3: Appointments</a:t>
            </a:r>
            <a:endParaRPr lang="en-US" sz="1400" b="1" dirty="0"/>
          </a:p>
        </p:txBody>
      </p:sp>
      <p:sp>
        <p:nvSpPr>
          <p:cNvPr id="25" name="Shape 23"/>
          <p:cNvSpPr/>
          <p:nvPr/>
        </p:nvSpPr>
        <p:spPr>
          <a:xfrm>
            <a:off x="4754880" y="2542032"/>
            <a:ext cx="402336" cy="402336"/>
          </a:xfrm>
          <a:prstGeom prst="rect">
            <a:avLst/>
          </a:prstGeom>
          <a:solidFill>
            <a:srgbClr val="0D9488"/>
          </a:solidFill>
          <a:ln w="12700">
            <a:solidFill>
              <a:srgbClr val="0D9488"/>
            </a:solidFill>
            <a:prstDash val="solid"/>
          </a:ln>
        </p:spPr>
      </p:sp>
      <p:sp>
        <p:nvSpPr>
          <p:cNvPr id="26" name="Text 24"/>
          <p:cNvSpPr/>
          <p:nvPr/>
        </p:nvSpPr>
        <p:spPr>
          <a:xfrm>
            <a:off x="4754880" y="2578608"/>
            <a:ext cx="402336"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08</a:t>
            </a:r>
            <a:endParaRPr lang="en-US" sz="1200" dirty="0"/>
          </a:p>
        </p:txBody>
      </p:sp>
      <p:sp>
        <p:nvSpPr>
          <p:cNvPr id="27" name="Text 25"/>
          <p:cNvSpPr/>
          <p:nvPr/>
        </p:nvSpPr>
        <p:spPr>
          <a:xfrm>
            <a:off x="5248656" y="2606040"/>
            <a:ext cx="4023360" cy="274320"/>
          </a:xfrm>
          <a:prstGeom prst="rect">
            <a:avLst/>
          </a:prstGeom>
          <a:noFill/>
          <a:ln/>
        </p:spPr>
        <p:txBody>
          <a:bodyPr wrap="square" lIns="0" tIns="0" rIns="0" bIns="0" rtlCol="0" anchor="ctr"/>
          <a:lstStyle/>
          <a:p>
            <a:pPr marL="0" indent="0">
              <a:buNone/>
            </a:pPr>
            <a:r>
              <a:rPr lang="en-US" sz="1400" b="1" dirty="0">
                <a:solidFill>
                  <a:srgbClr val="F1F5F9"/>
                </a:solidFill>
                <a:latin typeface="Calibri" pitchFamily="34" charset="0"/>
                <a:ea typeface="Calibri" pitchFamily="34" charset="-122"/>
                <a:cs typeface="Calibri" pitchFamily="34" charset="-120"/>
              </a:rPr>
              <a:t>Tab 4: Prescriptions</a:t>
            </a:r>
            <a:endParaRPr lang="en-US" sz="1400" b="1" dirty="0"/>
          </a:p>
        </p:txBody>
      </p:sp>
      <p:sp>
        <p:nvSpPr>
          <p:cNvPr id="28" name="Shape 26"/>
          <p:cNvSpPr/>
          <p:nvPr/>
        </p:nvSpPr>
        <p:spPr>
          <a:xfrm>
            <a:off x="4754880" y="3273552"/>
            <a:ext cx="402336" cy="402336"/>
          </a:xfrm>
          <a:prstGeom prst="rect">
            <a:avLst/>
          </a:prstGeom>
          <a:solidFill>
            <a:srgbClr val="0D9488"/>
          </a:solidFill>
          <a:ln w="12700">
            <a:solidFill>
              <a:srgbClr val="0D9488"/>
            </a:solidFill>
            <a:prstDash val="solid"/>
          </a:ln>
        </p:spPr>
      </p:sp>
      <p:sp>
        <p:nvSpPr>
          <p:cNvPr id="29" name="Text 27"/>
          <p:cNvSpPr/>
          <p:nvPr/>
        </p:nvSpPr>
        <p:spPr>
          <a:xfrm>
            <a:off x="4754880" y="3310128"/>
            <a:ext cx="402336"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09</a:t>
            </a:r>
            <a:endParaRPr lang="en-US" sz="1200" dirty="0"/>
          </a:p>
        </p:txBody>
      </p:sp>
      <p:sp>
        <p:nvSpPr>
          <p:cNvPr id="30" name="Text 28"/>
          <p:cNvSpPr/>
          <p:nvPr/>
        </p:nvSpPr>
        <p:spPr>
          <a:xfrm>
            <a:off x="5248656" y="3337560"/>
            <a:ext cx="4023360" cy="274320"/>
          </a:xfrm>
          <a:prstGeom prst="rect">
            <a:avLst/>
          </a:prstGeom>
          <a:noFill/>
          <a:ln/>
        </p:spPr>
        <p:txBody>
          <a:bodyPr wrap="square" lIns="0" tIns="0" rIns="0" bIns="0" rtlCol="0" anchor="ctr"/>
          <a:lstStyle/>
          <a:p>
            <a:pPr marL="0" indent="0">
              <a:buNone/>
            </a:pPr>
            <a:r>
              <a:rPr lang="en-US" sz="1400" b="1" dirty="0">
                <a:solidFill>
                  <a:srgbClr val="F1F5F9"/>
                </a:solidFill>
                <a:latin typeface="Calibri" pitchFamily="34" charset="0"/>
                <a:ea typeface="Calibri" pitchFamily="34" charset="-122"/>
                <a:cs typeface="Calibri" pitchFamily="34" charset="-120"/>
              </a:rPr>
              <a:t>Code Analysis &amp; Key Functions</a:t>
            </a:r>
            <a:endParaRPr lang="en-US" sz="1400" b="1" dirty="0"/>
          </a:p>
        </p:txBody>
      </p:sp>
      <p:sp>
        <p:nvSpPr>
          <p:cNvPr id="31" name="Shape 29"/>
          <p:cNvSpPr/>
          <p:nvPr/>
        </p:nvSpPr>
        <p:spPr>
          <a:xfrm>
            <a:off x="4754880" y="4005072"/>
            <a:ext cx="402336" cy="402336"/>
          </a:xfrm>
          <a:prstGeom prst="rect">
            <a:avLst/>
          </a:prstGeom>
          <a:solidFill>
            <a:srgbClr val="0D9488"/>
          </a:solidFill>
          <a:ln w="12700">
            <a:solidFill>
              <a:srgbClr val="0D9488"/>
            </a:solidFill>
            <a:prstDash val="solid"/>
          </a:ln>
        </p:spPr>
      </p:sp>
      <p:sp>
        <p:nvSpPr>
          <p:cNvPr id="32" name="Text 30"/>
          <p:cNvSpPr/>
          <p:nvPr/>
        </p:nvSpPr>
        <p:spPr>
          <a:xfrm>
            <a:off x="4754880" y="4041648"/>
            <a:ext cx="402336"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33" name="Text 31"/>
          <p:cNvSpPr/>
          <p:nvPr/>
        </p:nvSpPr>
        <p:spPr>
          <a:xfrm>
            <a:off x="5248656" y="4069080"/>
            <a:ext cx="4023360" cy="274320"/>
          </a:xfrm>
          <a:prstGeom prst="rect">
            <a:avLst/>
          </a:prstGeom>
          <a:noFill/>
          <a:ln/>
        </p:spPr>
        <p:txBody>
          <a:bodyPr wrap="square" lIns="0" tIns="0" rIns="0" bIns="0" rtlCol="0" anchor="ctr"/>
          <a:lstStyle/>
          <a:p>
            <a:pPr marL="0" indent="0">
              <a:buNone/>
            </a:pPr>
            <a:r>
              <a:rPr lang="en-US" sz="1400" b="1" dirty="0">
                <a:solidFill>
                  <a:srgbClr val="F1F5F9"/>
                </a:solidFill>
                <a:latin typeface="Calibri" pitchFamily="34" charset="0"/>
                <a:ea typeface="Calibri" pitchFamily="34" charset="-122"/>
                <a:cs typeface="Calibri" pitchFamily="34" charset="-120"/>
              </a:rPr>
              <a:t>Testing, Conclusions &amp; Recommendations</a:t>
            </a:r>
            <a:endParaRPr lang="en-US" sz="1400" b="1" dirty="0"/>
          </a:p>
        </p:txBody>
      </p:sp>
      <p:sp>
        <p:nvSpPr>
          <p:cNvPr id="34" name="TextBox 33">
            <a:extLst>
              <a:ext uri="{FF2B5EF4-FFF2-40B4-BE49-F238E27FC236}">
                <a16:creationId xmlns:a16="http://schemas.microsoft.com/office/drawing/2014/main" id="{34828286-AD48-0FBE-E683-31C6BEADB55D}"/>
              </a:ext>
            </a:extLst>
          </p:cNvPr>
          <p:cNvSpPr txBox="1"/>
          <p:nvPr/>
        </p:nvSpPr>
        <p:spPr>
          <a:xfrm>
            <a:off x="8763000" y="4838700"/>
            <a:ext cx="146304" cy="369332"/>
          </a:xfrm>
          <a:prstGeom prst="rect">
            <a:avLst/>
          </a:prstGeom>
          <a:noFill/>
        </p:spPr>
        <p:txBody>
          <a:bodyPr wrap="square" rtlCol="0">
            <a:spAutoFit/>
          </a:bodyPr>
          <a:lstStyle/>
          <a:p>
            <a:r>
              <a:rPr lang="en-GB" b="1" dirty="0">
                <a:solidFill>
                  <a:schemeClr val="bg1"/>
                </a:solidFill>
              </a:rPr>
              <a:t>2</a:t>
            </a:r>
            <a:endParaRPr lang="en-US" b="1"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366"/>
          </a:solidFill>
          <a:ln w="12700">
            <a:solidFill>
              <a:srgbClr val="003366"/>
            </a:solidFill>
            <a:prstDash val="solid"/>
          </a:ln>
        </p:spPr>
      </p:sp>
      <p:sp>
        <p:nvSpPr>
          <p:cNvPr id="3" name="Text 1"/>
          <p:cNvSpPr/>
          <p:nvPr/>
        </p:nvSpPr>
        <p:spPr>
          <a:xfrm>
            <a:off x="320040" y="0"/>
            <a:ext cx="8503920" cy="804672"/>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Introduction &amp; Background</a:t>
            </a:r>
            <a:endParaRPr lang="en-US" sz="2400" dirty="0"/>
          </a:p>
        </p:txBody>
      </p:sp>
      <p:sp>
        <p:nvSpPr>
          <p:cNvPr id="4" name="Text 2"/>
          <p:cNvSpPr/>
          <p:nvPr/>
        </p:nvSpPr>
        <p:spPr>
          <a:xfrm>
            <a:off x="320040" y="822960"/>
            <a:ext cx="8503920" cy="256032"/>
          </a:xfrm>
          <a:prstGeom prst="rect">
            <a:avLst/>
          </a:prstGeom>
          <a:noFill/>
          <a:ln/>
        </p:spPr>
        <p:txBody>
          <a:bodyPr wrap="square" rtlCol="0" anchor="ctr"/>
          <a:lstStyle/>
          <a:p>
            <a:pPr marL="0" indent="0">
              <a:buNone/>
            </a:pPr>
            <a:r>
              <a:rPr lang="en-US" b="1" dirty="0">
                <a:solidFill>
                  <a:srgbClr val="14B8A6"/>
                </a:solidFill>
                <a:latin typeface="Calibri" pitchFamily="34" charset="0"/>
                <a:ea typeface="Calibri" pitchFamily="34" charset="-122"/>
                <a:cs typeface="Calibri" pitchFamily="34" charset="-120"/>
              </a:rPr>
              <a:t>Why does a hospital need a Patient Management System?</a:t>
            </a:r>
            <a:endParaRPr lang="en-US" b="1" dirty="0"/>
          </a:p>
        </p:txBody>
      </p:sp>
      <p:sp>
        <p:nvSpPr>
          <p:cNvPr id="5" name="Shape 3"/>
          <p:cNvSpPr/>
          <p:nvPr/>
        </p:nvSpPr>
        <p:spPr>
          <a:xfrm>
            <a:off x="365760" y="1143000"/>
            <a:ext cx="4114800" cy="1828800"/>
          </a:xfrm>
          <a:prstGeom prst="rect">
            <a:avLst/>
          </a:prstGeom>
          <a:solidFill>
            <a:srgbClr val="1A2E5A"/>
          </a:solidFill>
          <a:ln w="15240">
            <a:solidFill>
              <a:srgbClr val="1D6FA4"/>
            </a:solidFill>
            <a:prstDash val="solid"/>
          </a:ln>
        </p:spPr>
      </p:sp>
      <p:sp>
        <p:nvSpPr>
          <p:cNvPr id="6" name="Shape 4"/>
          <p:cNvSpPr/>
          <p:nvPr/>
        </p:nvSpPr>
        <p:spPr>
          <a:xfrm>
            <a:off x="365760" y="1143000"/>
            <a:ext cx="64008" cy="1828800"/>
          </a:xfrm>
          <a:prstGeom prst="rect">
            <a:avLst/>
          </a:prstGeom>
          <a:solidFill>
            <a:srgbClr val="1D6FA4"/>
          </a:solidFill>
          <a:ln w="12700">
            <a:solidFill>
              <a:srgbClr val="1D6FA4"/>
            </a:solidFill>
            <a:prstDash val="solid"/>
          </a:ln>
        </p:spPr>
      </p:sp>
      <p:sp>
        <p:nvSpPr>
          <p:cNvPr id="7" name="Text 5"/>
          <p:cNvSpPr/>
          <p:nvPr/>
        </p:nvSpPr>
        <p:spPr>
          <a:xfrm>
            <a:off x="484632" y="1207008"/>
            <a:ext cx="3931920" cy="256032"/>
          </a:xfrm>
          <a:prstGeom prst="rect">
            <a:avLst/>
          </a:prstGeom>
          <a:noFill/>
          <a:ln/>
        </p:spPr>
        <p:txBody>
          <a:bodyPr wrap="square" lIns="0" tIns="0" rIns="0" bIns="0" rtlCol="0" anchor="ctr"/>
          <a:lstStyle/>
          <a:p>
            <a:pPr marL="0" indent="0">
              <a:buNone/>
            </a:pPr>
            <a:r>
              <a:rPr lang="en-US" b="1" dirty="0">
                <a:solidFill>
                  <a:srgbClr val="1D6FA4"/>
                </a:solidFill>
                <a:latin typeface="Calibri" pitchFamily="34" charset="0"/>
                <a:ea typeface="Calibri" pitchFamily="34" charset="-122"/>
                <a:cs typeface="Calibri" pitchFamily="34" charset="-120"/>
              </a:rPr>
              <a:t>The Hospital Problem</a:t>
            </a:r>
            <a:endParaRPr lang="en-US" dirty="0"/>
          </a:p>
        </p:txBody>
      </p:sp>
      <p:sp>
        <p:nvSpPr>
          <p:cNvPr id="8" name="Text 6"/>
          <p:cNvSpPr/>
          <p:nvPr/>
        </p:nvSpPr>
        <p:spPr>
          <a:xfrm>
            <a:off x="484632" y="1481328"/>
            <a:ext cx="3931920" cy="1389888"/>
          </a:xfrm>
          <a:prstGeom prst="rect">
            <a:avLst/>
          </a:prstGeom>
          <a:noFill/>
          <a:ln/>
        </p:spPr>
        <p:txBody>
          <a:bodyPr wrap="square" lIns="0" tIns="0" rIns="0" bIns="0" rtlCol="0" anchor="t"/>
          <a:lstStyle/>
          <a:p>
            <a:pPr marL="285750" indent="-285750">
              <a:buFont typeface="Arial" panose="020B0604020202020204" pitchFamily="34" charset="0"/>
              <a:buChar char="•"/>
            </a:pPr>
            <a:r>
              <a:rPr lang="en-US" sz="1400" b="1" dirty="0">
                <a:solidFill>
                  <a:srgbClr val="F1F5F9"/>
                </a:solidFill>
                <a:latin typeface="Calibri" pitchFamily="34" charset="0"/>
                <a:ea typeface="Calibri" pitchFamily="34" charset="-122"/>
                <a:cs typeface="Calibri" pitchFamily="34" charset="-120"/>
              </a:rPr>
              <a:t>Hospitals like LUTH handle thousands of patients monthly. Paper-based records are slow, error-prone, difficult to search, and can be lost. Digital systems save time, improve accuracy, and enhance patient safety.</a:t>
            </a:r>
            <a:endParaRPr lang="en-US" sz="1400" b="1" dirty="0"/>
          </a:p>
        </p:txBody>
      </p:sp>
      <p:sp>
        <p:nvSpPr>
          <p:cNvPr id="9" name="Shape 7"/>
          <p:cNvSpPr/>
          <p:nvPr/>
        </p:nvSpPr>
        <p:spPr>
          <a:xfrm>
            <a:off x="4663440" y="1143000"/>
            <a:ext cx="4114800" cy="1828800"/>
          </a:xfrm>
          <a:prstGeom prst="rect">
            <a:avLst/>
          </a:prstGeom>
          <a:solidFill>
            <a:srgbClr val="1A2E5A"/>
          </a:solidFill>
          <a:ln w="15240">
            <a:solidFill>
              <a:srgbClr val="F59E0B"/>
            </a:solidFill>
            <a:prstDash val="solid"/>
          </a:ln>
        </p:spPr>
      </p:sp>
      <p:sp>
        <p:nvSpPr>
          <p:cNvPr id="10" name="Shape 8"/>
          <p:cNvSpPr/>
          <p:nvPr/>
        </p:nvSpPr>
        <p:spPr>
          <a:xfrm>
            <a:off x="4663440" y="1143000"/>
            <a:ext cx="64008" cy="1828800"/>
          </a:xfrm>
          <a:prstGeom prst="rect">
            <a:avLst/>
          </a:prstGeom>
          <a:solidFill>
            <a:srgbClr val="F59E0B"/>
          </a:solidFill>
          <a:ln w="12700">
            <a:solidFill>
              <a:srgbClr val="F59E0B"/>
            </a:solidFill>
            <a:prstDash val="solid"/>
          </a:ln>
        </p:spPr>
      </p:sp>
      <p:sp>
        <p:nvSpPr>
          <p:cNvPr id="11" name="Text 9"/>
          <p:cNvSpPr/>
          <p:nvPr/>
        </p:nvSpPr>
        <p:spPr>
          <a:xfrm>
            <a:off x="4782312" y="1207008"/>
            <a:ext cx="3931920" cy="256032"/>
          </a:xfrm>
          <a:prstGeom prst="rect">
            <a:avLst/>
          </a:prstGeom>
          <a:noFill/>
          <a:ln/>
        </p:spPr>
        <p:txBody>
          <a:bodyPr wrap="square" lIns="0" tIns="0" rIns="0" bIns="0" rtlCol="0" anchor="ctr"/>
          <a:lstStyle/>
          <a:p>
            <a:pPr marL="0" indent="0">
              <a:buNone/>
            </a:pPr>
            <a:r>
              <a:rPr lang="en-US" b="1" dirty="0">
                <a:solidFill>
                  <a:srgbClr val="F59E0B"/>
                </a:solidFill>
                <a:latin typeface="Calibri" pitchFamily="34" charset="0"/>
                <a:ea typeface="Calibri" pitchFamily="34" charset="-122"/>
                <a:cs typeface="Calibri" pitchFamily="34" charset="-120"/>
              </a:rPr>
              <a:t>Simple Analogy (For Everyone!)</a:t>
            </a:r>
            <a:endParaRPr lang="en-US" dirty="0"/>
          </a:p>
        </p:txBody>
      </p:sp>
      <p:sp>
        <p:nvSpPr>
          <p:cNvPr id="12" name="Text 10"/>
          <p:cNvSpPr/>
          <p:nvPr/>
        </p:nvSpPr>
        <p:spPr>
          <a:xfrm>
            <a:off x="4782312" y="1481328"/>
            <a:ext cx="3931920" cy="1389888"/>
          </a:xfrm>
          <a:prstGeom prst="rect">
            <a:avLst/>
          </a:prstGeom>
          <a:noFill/>
          <a:ln/>
        </p:spPr>
        <p:txBody>
          <a:bodyPr wrap="square" lIns="0" tIns="0" rIns="0" bIns="0" rtlCol="0" anchor="t"/>
          <a:lstStyle/>
          <a:p>
            <a:pPr marL="285750" indent="-285750">
              <a:buFont typeface="Arial" panose="020B0604020202020204" pitchFamily="34" charset="0"/>
              <a:buChar char="•"/>
            </a:pPr>
            <a:r>
              <a:rPr lang="en-US" sz="1400" b="1" dirty="0">
                <a:solidFill>
                  <a:srgbClr val="F1F5F9"/>
                </a:solidFill>
                <a:latin typeface="Calibri" pitchFamily="34" charset="0"/>
                <a:ea typeface="Calibri" pitchFamily="34" charset="-122"/>
                <a:cs typeface="Calibri" pitchFamily="34" charset="-120"/>
              </a:rPr>
              <a:t>Imagine you have 1,000 toys in a big pile and need to find your red ball. Without organisation, you check every toy! But with labelled boxes, sorted by colour and type, you find it instantly. That is what our system does for patient data!</a:t>
            </a:r>
            <a:endParaRPr lang="en-US" sz="1400" b="1" dirty="0"/>
          </a:p>
        </p:txBody>
      </p:sp>
      <p:sp>
        <p:nvSpPr>
          <p:cNvPr id="13" name="Text 11"/>
          <p:cNvSpPr/>
          <p:nvPr/>
        </p:nvSpPr>
        <p:spPr>
          <a:xfrm>
            <a:off x="365760" y="3154680"/>
            <a:ext cx="8412480" cy="274320"/>
          </a:xfrm>
          <a:prstGeom prst="rect">
            <a:avLst/>
          </a:prstGeom>
          <a:noFill/>
          <a:ln/>
        </p:spPr>
        <p:txBody>
          <a:bodyPr wrap="square" rtlCol="0" anchor="ctr"/>
          <a:lstStyle/>
          <a:p>
            <a:pPr marL="0" indent="0">
              <a:buNone/>
            </a:pPr>
            <a:r>
              <a:rPr lang="en-US" b="1" dirty="0">
                <a:solidFill>
                  <a:srgbClr val="14B8A6"/>
                </a:solidFill>
                <a:latin typeface="Calibri" pitchFamily="34" charset="0"/>
                <a:ea typeface="Calibri" pitchFamily="34" charset="-122"/>
                <a:cs typeface="Calibri" pitchFamily="34" charset="-120"/>
              </a:rPr>
              <a:t>What Our System Manages:</a:t>
            </a:r>
            <a:endParaRPr lang="en-US" dirty="0"/>
          </a:p>
        </p:txBody>
      </p:sp>
      <p:sp>
        <p:nvSpPr>
          <p:cNvPr id="14" name="Shape 12"/>
          <p:cNvSpPr/>
          <p:nvPr/>
        </p:nvSpPr>
        <p:spPr>
          <a:xfrm>
            <a:off x="365760" y="3493008"/>
            <a:ext cx="1965960" cy="1417320"/>
          </a:xfrm>
          <a:prstGeom prst="rect">
            <a:avLst/>
          </a:prstGeom>
          <a:solidFill>
            <a:srgbClr val="1A2E5A"/>
          </a:solidFill>
          <a:ln w="19050">
            <a:solidFill>
              <a:srgbClr val="16A34A"/>
            </a:solidFill>
            <a:prstDash val="solid"/>
          </a:ln>
        </p:spPr>
      </p:sp>
      <p:sp>
        <p:nvSpPr>
          <p:cNvPr id="15" name="Text 13"/>
          <p:cNvSpPr/>
          <p:nvPr/>
        </p:nvSpPr>
        <p:spPr>
          <a:xfrm>
            <a:off x="365760" y="3566160"/>
            <a:ext cx="1965960" cy="475488"/>
          </a:xfrm>
          <a:prstGeom prst="rect">
            <a:avLst/>
          </a:prstGeom>
          <a:noFill/>
          <a:ln/>
        </p:spPr>
        <p:txBody>
          <a:bodyPr wrap="square" rtlCol="0" anchor="ctr"/>
          <a:lstStyle/>
          <a:p>
            <a:pPr marL="0" indent="0" algn="ctr">
              <a:buNone/>
            </a:pPr>
            <a:r>
              <a:rPr lang="en-US" sz="1600" b="1" dirty="0">
                <a:solidFill>
                  <a:srgbClr val="16A34A"/>
                </a:solidFill>
                <a:latin typeface="Calibri" pitchFamily="34" charset="0"/>
                <a:ea typeface="Calibri" pitchFamily="34" charset="-122"/>
                <a:cs typeface="Calibri" pitchFamily="34" charset="-120"/>
              </a:rPr>
              <a:t>Patient</a:t>
            </a:r>
            <a:endParaRPr lang="en-US" sz="1600" b="1" dirty="0"/>
          </a:p>
          <a:p>
            <a:pPr marL="0" indent="0" algn="ctr">
              <a:buNone/>
            </a:pPr>
            <a:r>
              <a:rPr lang="en-US" sz="1600" b="1" dirty="0">
                <a:solidFill>
                  <a:srgbClr val="16A34A"/>
                </a:solidFill>
                <a:latin typeface="Calibri" pitchFamily="34" charset="0"/>
                <a:ea typeface="Calibri" pitchFamily="34" charset="-122"/>
                <a:cs typeface="Calibri" pitchFamily="34" charset="-120"/>
              </a:rPr>
              <a:t>Registration</a:t>
            </a:r>
            <a:endParaRPr lang="en-US" sz="1600" b="1" dirty="0"/>
          </a:p>
        </p:txBody>
      </p:sp>
      <p:sp>
        <p:nvSpPr>
          <p:cNvPr id="16" name="Text 14"/>
          <p:cNvSpPr/>
          <p:nvPr/>
        </p:nvSpPr>
        <p:spPr>
          <a:xfrm>
            <a:off x="365760" y="4041648"/>
            <a:ext cx="1965960" cy="685800"/>
          </a:xfrm>
          <a:prstGeom prst="rect">
            <a:avLst/>
          </a:prstGeom>
          <a:noFill/>
          <a:ln/>
        </p:spPr>
        <p:txBody>
          <a:bodyPr wrap="square" rtlCol="0" anchor="ctr"/>
          <a:lstStyle/>
          <a:p>
            <a:pPr marL="0" indent="0" algn="ctr">
              <a:buNone/>
            </a:pPr>
            <a:r>
              <a:rPr lang="en-US" sz="1200" b="1" dirty="0">
                <a:solidFill>
                  <a:srgbClr val="F1F5F9"/>
                </a:solidFill>
                <a:latin typeface="Calibri" pitchFamily="34" charset="0"/>
                <a:ea typeface="Calibri" pitchFamily="34" charset="-122"/>
                <a:cs typeface="Calibri" pitchFamily="34" charset="-120"/>
              </a:rPr>
              <a:t>New patients get a unique ID (LUTH-2025-XXX)</a:t>
            </a:r>
            <a:endParaRPr lang="en-US" sz="1200" b="1" dirty="0"/>
          </a:p>
        </p:txBody>
      </p:sp>
      <p:sp>
        <p:nvSpPr>
          <p:cNvPr id="17" name="Shape 15"/>
          <p:cNvSpPr/>
          <p:nvPr/>
        </p:nvSpPr>
        <p:spPr>
          <a:xfrm>
            <a:off x="2514600" y="3493008"/>
            <a:ext cx="1965960" cy="1417320"/>
          </a:xfrm>
          <a:prstGeom prst="rect">
            <a:avLst/>
          </a:prstGeom>
          <a:solidFill>
            <a:srgbClr val="1A2E5A"/>
          </a:solidFill>
          <a:ln w="19050">
            <a:solidFill>
              <a:srgbClr val="1D6FA4"/>
            </a:solidFill>
            <a:prstDash val="solid"/>
          </a:ln>
        </p:spPr>
      </p:sp>
      <p:sp>
        <p:nvSpPr>
          <p:cNvPr id="18" name="Text 16"/>
          <p:cNvSpPr/>
          <p:nvPr/>
        </p:nvSpPr>
        <p:spPr>
          <a:xfrm>
            <a:off x="2514600" y="3566160"/>
            <a:ext cx="1965960" cy="475488"/>
          </a:xfrm>
          <a:prstGeom prst="rect">
            <a:avLst/>
          </a:prstGeom>
          <a:noFill/>
          <a:ln/>
        </p:spPr>
        <p:txBody>
          <a:bodyPr wrap="square" rtlCol="0" anchor="ctr"/>
          <a:lstStyle/>
          <a:p>
            <a:pPr marL="0" indent="0" algn="ctr">
              <a:buNone/>
            </a:pPr>
            <a:r>
              <a:rPr lang="en-US" sz="1600" b="1" dirty="0">
                <a:solidFill>
                  <a:srgbClr val="1D6FA4"/>
                </a:solidFill>
                <a:latin typeface="Calibri" pitchFamily="34" charset="0"/>
                <a:ea typeface="Calibri" pitchFamily="34" charset="-122"/>
                <a:cs typeface="Calibri" pitchFamily="34" charset="-120"/>
              </a:rPr>
              <a:t>Patient</a:t>
            </a:r>
            <a:endParaRPr lang="en-US" sz="1600" b="1" dirty="0"/>
          </a:p>
          <a:p>
            <a:pPr marL="0" indent="0" algn="ctr">
              <a:buNone/>
            </a:pPr>
            <a:r>
              <a:rPr lang="en-US" sz="1600" b="1" dirty="0">
                <a:solidFill>
                  <a:srgbClr val="1D6FA4"/>
                </a:solidFill>
                <a:latin typeface="Calibri" pitchFamily="34" charset="0"/>
                <a:ea typeface="Calibri" pitchFamily="34" charset="-122"/>
                <a:cs typeface="Calibri" pitchFamily="34" charset="-120"/>
              </a:rPr>
              <a:t>Records</a:t>
            </a:r>
            <a:endParaRPr lang="en-US" sz="1600" b="1" dirty="0"/>
          </a:p>
        </p:txBody>
      </p:sp>
      <p:sp>
        <p:nvSpPr>
          <p:cNvPr id="19" name="Text 17"/>
          <p:cNvSpPr/>
          <p:nvPr/>
        </p:nvSpPr>
        <p:spPr>
          <a:xfrm>
            <a:off x="2514600" y="4041648"/>
            <a:ext cx="1965960" cy="685800"/>
          </a:xfrm>
          <a:prstGeom prst="rect">
            <a:avLst/>
          </a:prstGeom>
          <a:noFill/>
          <a:ln/>
        </p:spPr>
        <p:txBody>
          <a:bodyPr wrap="square" rtlCol="0" anchor="ctr"/>
          <a:lstStyle/>
          <a:p>
            <a:pPr marL="0" indent="0" algn="ctr">
              <a:buNone/>
            </a:pPr>
            <a:r>
              <a:rPr lang="en-US" sz="1200" b="1" dirty="0">
                <a:solidFill>
                  <a:srgbClr val="F1F5F9"/>
                </a:solidFill>
                <a:latin typeface="Calibri" pitchFamily="34" charset="0"/>
                <a:ea typeface="Calibri" pitchFamily="34" charset="-122"/>
                <a:cs typeface="Calibri" pitchFamily="34" charset="-120"/>
              </a:rPr>
              <a:t>Search and view any patient profile instantly</a:t>
            </a:r>
            <a:endParaRPr lang="en-US" sz="1200" b="1" dirty="0"/>
          </a:p>
        </p:txBody>
      </p:sp>
      <p:sp>
        <p:nvSpPr>
          <p:cNvPr id="20" name="Shape 18"/>
          <p:cNvSpPr/>
          <p:nvPr/>
        </p:nvSpPr>
        <p:spPr>
          <a:xfrm>
            <a:off x="4663440" y="3493008"/>
            <a:ext cx="1965960" cy="1417320"/>
          </a:xfrm>
          <a:prstGeom prst="rect">
            <a:avLst/>
          </a:prstGeom>
          <a:solidFill>
            <a:srgbClr val="1A2E5A"/>
          </a:solidFill>
          <a:ln w="19050">
            <a:solidFill>
              <a:srgbClr val="D97706"/>
            </a:solidFill>
            <a:prstDash val="solid"/>
          </a:ln>
        </p:spPr>
      </p:sp>
      <p:sp>
        <p:nvSpPr>
          <p:cNvPr id="21" name="Text 19"/>
          <p:cNvSpPr/>
          <p:nvPr/>
        </p:nvSpPr>
        <p:spPr>
          <a:xfrm>
            <a:off x="4663440" y="3566160"/>
            <a:ext cx="1965960" cy="475488"/>
          </a:xfrm>
          <a:prstGeom prst="rect">
            <a:avLst/>
          </a:prstGeom>
          <a:noFill/>
          <a:ln/>
        </p:spPr>
        <p:txBody>
          <a:bodyPr wrap="square" rtlCol="0" anchor="ctr"/>
          <a:lstStyle/>
          <a:p>
            <a:pPr marL="0" indent="0" algn="ctr">
              <a:buNone/>
            </a:pPr>
            <a:r>
              <a:rPr lang="en-US" sz="1600" b="1" dirty="0">
                <a:solidFill>
                  <a:srgbClr val="D97706"/>
                </a:solidFill>
                <a:latin typeface="Calibri" pitchFamily="34" charset="0"/>
                <a:ea typeface="Calibri" pitchFamily="34" charset="-122"/>
                <a:cs typeface="Calibri" pitchFamily="34" charset="-120"/>
              </a:rPr>
              <a:t>Appointments</a:t>
            </a:r>
            <a:endParaRPr lang="en-US" sz="1600" dirty="0"/>
          </a:p>
        </p:txBody>
      </p:sp>
      <p:sp>
        <p:nvSpPr>
          <p:cNvPr id="22" name="Text 20"/>
          <p:cNvSpPr/>
          <p:nvPr/>
        </p:nvSpPr>
        <p:spPr>
          <a:xfrm>
            <a:off x="4663440" y="4041648"/>
            <a:ext cx="1965960" cy="685800"/>
          </a:xfrm>
          <a:prstGeom prst="rect">
            <a:avLst/>
          </a:prstGeom>
          <a:noFill/>
          <a:ln/>
        </p:spPr>
        <p:txBody>
          <a:bodyPr wrap="square" rtlCol="0" anchor="ctr"/>
          <a:lstStyle/>
          <a:p>
            <a:pPr marL="0" indent="0" algn="ctr">
              <a:buNone/>
            </a:pPr>
            <a:r>
              <a:rPr lang="en-US" sz="1200" b="1" dirty="0">
                <a:solidFill>
                  <a:srgbClr val="F1F5F9"/>
                </a:solidFill>
                <a:latin typeface="Calibri" pitchFamily="34" charset="0"/>
                <a:ea typeface="Calibri" pitchFamily="34" charset="-122"/>
                <a:cs typeface="Calibri" pitchFamily="34" charset="-120"/>
              </a:rPr>
              <a:t>Book doctor visits with date, time, department</a:t>
            </a:r>
            <a:endParaRPr lang="en-US" sz="1200" b="1" dirty="0"/>
          </a:p>
        </p:txBody>
      </p:sp>
      <p:sp>
        <p:nvSpPr>
          <p:cNvPr id="23" name="Shape 21"/>
          <p:cNvSpPr/>
          <p:nvPr/>
        </p:nvSpPr>
        <p:spPr>
          <a:xfrm>
            <a:off x="6812280" y="3493008"/>
            <a:ext cx="1965960" cy="1417320"/>
          </a:xfrm>
          <a:prstGeom prst="rect">
            <a:avLst/>
          </a:prstGeom>
          <a:solidFill>
            <a:srgbClr val="1A2E5A"/>
          </a:solidFill>
          <a:ln w="19050">
            <a:solidFill>
              <a:srgbClr val="DC2626"/>
            </a:solidFill>
            <a:prstDash val="solid"/>
          </a:ln>
        </p:spPr>
      </p:sp>
      <p:sp>
        <p:nvSpPr>
          <p:cNvPr id="24" name="Text 22"/>
          <p:cNvSpPr/>
          <p:nvPr/>
        </p:nvSpPr>
        <p:spPr>
          <a:xfrm>
            <a:off x="6812280" y="3566160"/>
            <a:ext cx="1965960" cy="475488"/>
          </a:xfrm>
          <a:prstGeom prst="rect">
            <a:avLst/>
          </a:prstGeom>
          <a:noFill/>
          <a:ln/>
        </p:spPr>
        <p:txBody>
          <a:bodyPr wrap="square" rtlCol="0" anchor="ctr"/>
          <a:lstStyle/>
          <a:p>
            <a:pPr marL="0" indent="0" algn="ctr">
              <a:buNone/>
            </a:pPr>
            <a:r>
              <a:rPr lang="en-US" sz="1600" b="1" dirty="0">
                <a:solidFill>
                  <a:srgbClr val="DC2626"/>
                </a:solidFill>
                <a:latin typeface="Calibri" pitchFamily="34" charset="0"/>
                <a:ea typeface="Calibri" pitchFamily="34" charset="-122"/>
                <a:cs typeface="Calibri" pitchFamily="34" charset="-120"/>
              </a:rPr>
              <a:t>Prescriptions</a:t>
            </a:r>
            <a:endParaRPr lang="en-US" sz="1600" dirty="0"/>
          </a:p>
        </p:txBody>
      </p:sp>
      <p:sp>
        <p:nvSpPr>
          <p:cNvPr id="25" name="Text 23"/>
          <p:cNvSpPr/>
          <p:nvPr/>
        </p:nvSpPr>
        <p:spPr>
          <a:xfrm>
            <a:off x="6812280" y="4041648"/>
            <a:ext cx="1965960" cy="685800"/>
          </a:xfrm>
          <a:prstGeom prst="rect">
            <a:avLst/>
          </a:prstGeom>
          <a:noFill/>
          <a:ln/>
        </p:spPr>
        <p:txBody>
          <a:bodyPr wrap="square" rtlCol="0" anchor="ctr"/>
          <a:lstStyle/>
          <a:p>
            <a:pPr marL="0" indent="0" algn="ctr">
              <a:buNone/>
            </a:pPr>
            <a:r>
              <a:rPr lang="en-US" sz="1200" b="1" dirty="0">
                <a:solidFill>
                  <a:srgbClr val="F1F5F9"/>
                </a:solidFill>
                <a:latin typeface="Calibri" pitchFamily="34" charset="0"/>
                <a:ea typeface="Calibri" pitchFamily="34" charset="-122"/>
                <a:cs typeface="Calibri" pitchFamily="34" charset="-120"/>
              </a:rPr>
              <a:t>Issue and track medications with doctor sign-off</a:t>
            </a:r>
            <a:endParaRPr lang="en-US" sz="1200" b="1" dirty="0"/>
          </a:p>
        </p:txBody>
      </p:sp>
      <p:sp>
        <p:nvSpPr>
          <p:cNvPr id="26" name="TextBox 25">
            <a:extLst>
              <a:ext uri="{FF2B5EF4-FFF2-40B4-BE49-F238E27FC236}">
                <a16:creationId xmlns:a16="http://schemas.microsoft.com/office/drawing/2014/main" id="{8D81417D-1EB4-9189-8F81-FDB489CD16F0}"/>
              </a:ext>
            </a:extLst>
          </p:cNvPr>
          <p:cNvSpPr txBox="1"/>
          <p:nvPr/>
        </p:nvSpPr>
        <p:spPr>
          <a:xfrm>
            <a:off x="8763000" y="4838700"/>
            <a:ext cx="146304" cy="369332"/>
          </a:xfrm>
          <a:prstGeom prst="rect">
            <a:avLst/>
          </a:prstGeom>
          <a:noFill/>
        </p:spPr>
        <p:txBody>
          <a:bodyPr wrap="square" rtlCol="0">
            <a:spAutoFit/>
          </a:bodyPr>
          <a:lstStyle/>
          <a:p>
            <a:r>
              <a:rPr lang="en-GB" b="1" dirty="0">
                <a:solidFill>
                  <a:schemeClr val="bg1"/>
                </a:solidFill>
              </a:rPr>
              <a:t>3</a:t>
            </a:r>
            <a:endParaRPr lang="en-US" b="1"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366"/>
          </a:solidFill>
          <a:ln w="12700">
            <a:solidFill>
              <a:srgbClr val="003366"/>
            </a:solidFill>
            <a:prstDash val="solid"/>
          </a:ln>
        </p:spPr>
      </p:sp>
      <p:sp>
        <p:nvSpPr>
          <p:cNvPr id="3" name="Text 1"/>
          <p:cNvSpPr/>
          <p:nvPr/>
        </p:nvSpPr>
        <p:spPr>
          <a:xfrm>
            <a:off x="320040" y="0"/>
            <a:ext cx="8503920" cy="804672"/>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Project Assignment &amp; Objectives</a:t>
            </a:r>
            <a:endParaRPr lang="en-US" sz="2400" dirty="0"/>
          </a:p>
        </p:txBody>
      </p:sp>
      <p:sp>
        <p:nvSpPr>
          <p:cNvPr id="4" name="Text 2"/>
          <p:cNvSpPr/>
          <p:nvPr/>
        </p:nvSpPr>
        <p:spPr>
          <a:xfrm>
            <a:off x="320040" y="822960"/>
            <a:ext cx="8503920" cy="256032"/>
          </a:xfrm>
          <a:prstGeom prst="rect">
            <a:avLst/>
          </a:prstGeom>
          <a:noFill/>
          <a:ln/>
        </p:spPr>
        <p:txBody>
          <a:bodyPr wrap="square" rtlCol="0" anchor="ctr"/>
          <a:lstStyle/>
          <a:p>
            <a:pPr marL="0" indent="0">
              <a:buNone/>
            </a:pPr>
            <a:r>
              <a:rPr lang="en-US" sz="1400" b="1" dirty="0">
                <a:solidFill>
                  <a:srgbClr val="14B8A6"/>
                </a:solidFill>
                <a:latin typeface="Calibri" pitchFamily="34" charset="0"/>
                <a:ea typeface="Calibri" pitchFamily="34" charset="-122"/>
                <a:cs typeface="Calibri" pitchFamily="34" charset="-120"/>
              </a:rPr>
              <a:t>MSc Biomedical Engineering — Health Informatics &amp; Management Information System (BME 806) module</a:t>
            </a:r>
            <a:endParaRPr lang="en-US" sz="1400" b="1" dirty="0"/>
          </a:p>
        </p:txBody>
      </p:sp>
      <p:sp>
        <p:nvSpPr>
          <p:cNvPr id="5" name="Shape 3"/>
          <p:cNvSpPr/>
          <p:nvPr/>
        </p:nvSpPr>
        <p:spPr>
          <a:xfrm>
            <a:off x="365760" y="1115568"/>
            <a:ext cx="8412480" cy="960120"/>
          </a:xfrm>
          <a:prstGeom prst="rect">
            <a:avLst/>
          </a:prstGeom>
          <a:solidFill>
            <a:srgbClr val="1A2E5A"/>
          </a:solidFill>
          <a:ln w="25400">
            <a:solidFill>
              <a:srgbClr val="F59E0B"/>
            </a:solidFill>
            <a:prstDash val="solid"/>
          </a:ln>
        </p:spPr>
      </p:sp>
      <p:sp>
        <p:nvSpPr>
          <p:cNvPr id="6" name="Text 4"/>
          <p:cNvSpPr/>
          <p:nvPr/>
        </p:nvSpPr>
        <p:spPr>
          <a:xfrm>
            <a:off x="548640" y="1188720"/>
            <a:ext cx="8046720" cy="256032"/>
          </a:xfrm>
          <a:prstGeom prst="rect">
            <a:avLst/>
          </a:prstGeom>
          <a:noFill/>
          <a:ln/>
        </p:spPr>
        <p:txBody>
          <a:bodyPr wrap="square" lIns="0" tIns="0" rIns="0" bIns="0"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ASSIGNMENT BRIEF:</a:t>
            </a:r>
            <a:endParaRPr lang="en-US" sz="1400" dirty="0"/>
          </a:p>
        </p:txBody>
      </p:sp>
      <p:sp>
        <p:nvSpPr>
          <p:cNvPr id="7" name="Text 5"/>
          <p:cNvSpPr/>
          <p:nvPr/>
        </p:nvSpPr>
        <p:spPr>
          <a:xfrm>
            <a:off x="548640" y="1444752"/>
            <a:ext cx="8046720" cy="5029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Group 1 — Develop a GUI-based application to manage patient records, appointments, and prescriptions.</a:t>
            </a:r>
            <a:endParaRPr lang="en-US" sz="1600" dirty="0"/>
          </a:p>
        </p:txBody>
      </p:sp>
      <p:sp>
        <p:nvSpPr>
          <p:cNvPr id="8" name="Text 6"/>
          <p:cNvSpPr/>
          <p:nvPr/>
        </p:nvSpPr>
        <p:spPr>
          <a:xfrm>
            <a:off x="365760" y="2240280"/>
            <a:ext cx="8412480" cy="256032"/>
          </a:xfrm>
          <a:prstGeom prst="rect">
            <a:avLst/>
          </a:prstGeom>
          <a:noFill/>
          <a:ln/>
        </p:spPr>
        <p:txBody>
          <a:bodyPr wrap="square" rtlCol="0" anchor="ctr"/>
          <a:lstStyle/>
          <a:p>
            <a:pPr marL="0" indent="0">
              <a:buNone/>
            </a:pPr>
            <a:r>
              <a:rPr lang="en-US" b="1" dirty="0">
                <a:solidFill>
                  <a:srgbClr val="14B8A6"/>
                </a:solidFill>
                <a:latin typeface="Calibri" pitchFamily="34" charset="0"/>
                <a:ea typeface="Calibri" pitchFamily="34" charset="-122"/>
                <a:cs typeface="Calibri" pitchFamily="34" charset="-120"/>
              </a:rPr>
              <a:t>Project Objectives:</a:t>
            </a:r>
            <a:endParaRPr lang="en-US" dirty="0"/>
          </a:p>
        </p:txBody>
      </p:sp>
      <p:sp>
        <p:nvSpPr>
          <p:cNvPr id="9" name="Text 7"/>
          <p:cNvSpPr/>
          <p:nvPr/>
        </p:nvSpPr>
        <p:spPr>
          <a:xfrm>
            <a:off x="502920" y="2560320"/>
            <a:ext cx="8229600" cy="2423160"/>
          </a:xfrm>
          <a:prstGeom prst="rect">
            <a:avLst/>
          </a:prstGeom>
          <a:noFill/>
          <a:ln/>
        </p:spPr>
        <p:txBody>
          <a:bodyPr wrap="square" rtlCol="0" anchor="t"/>
          <a:lstStyle/>
          <a:p>
            <a:pPr marL="0" indent="0">
              <a:spcAft>
                <a:spcPts val="800"/>
              </a:spcAft>
              <a:buNone/>
            </a:pPr>
            <a:r>
              <a:rPr lang="en-US" sz="1600" b="1" dirty="0">
                <a:solidFill>
                  <a:srgbClr val="F1F5F9"/>
                </a:solidFill>
                <a:latin typeface="Calibri" pitchFamily="34" charset="0"/>
                <a:ea typeface="Calibri" pitchFamily="34" charset="-122"/>
                <a:cs typeface="Calibri" pitchFamily="34" charset="-120"/>
              </a:rPr>
              <a:t>1.  Design a user-friendly GUI running inside Jupyter Notebook / Google Colab</a:t>
            </a:r>
            <a:endParaRPr lang="en-US" sz="1600" b="1" dirty="0"/>
          </a:p>
          <a:p>
            <a:pPr marL="0" indent="0">
              <a:spcAft>
                <a:spcPts val="800"/>
              </a:spcAft>
              <a:buNone/>
            </a:pPr>
            <a:r>
              <a:rPr lang="en-US" sz="1600" b="1" dirty="0">
                <a:solidFill>
                  <a:srgbClr val="F1F5F9"/>
                </a:solidFill>
                <a:latin typeface="Calibri" pitchFamily="34" charset="0"/>
                <a:ea typeface="Calibri" pitchFamily="34" charset="-122"/>
                <a:cs typeface="Calibri" pitchFamily="34" charset="-120"/>
              </a:rPr>
              <a:t>2.  Implement patient registration with automatic sequential ID generation</a:t>
            </a:r>
            <a:endParaRPr lang="en-US" sz="1600" b="1" dirty="0"/>
          </a:p>
          <a:p>
            <a:pPr marL="0" indent="0">
              <a:spcAft>
                <a:spcPts val="800"/>
              </a:spcAft>
              <a:buNone/>
            </a:pPr>
            <a:r>
              <a:rPr lang="en-US" sz="1600" b="1" dirty="0">
                <a:solidFill>
                  <a:srgbClr val="F1F5F9"/>
                </a:solidFill>
                <a:latin typeface="Calibri" pitchFamily="34" charset="0"/>
                <a:ea typeface="Calibri" pitchFamily="34" charset="-122"/>
                <a:cs typeface="Calibri" pitchFamily="34" charset="-120"/>
              </a:rPr>
              <a:t>3.  Build a searchable patient records module (search by name or ID)</a:t>
            </a:r>
            <a:endParaRPr lang="en-US" sz="1600" b="1" dirty="0"/>
          </a:p>
          <a:p>
            <a:pPr marL="0" indent="0">
              <a:spcAft>
                <a:spcPts val="800"/>
              </a:spcAft>
              <a:buNone/>
            </a:pPr>
            <a:r>
              <a:rPr lang="en-US" sz="1600" b="1" dirty="0">
                <a:solidFill>
                  <a:srgbClr val="F1F5F9"/>
                </a:solidFill>
                <a:latin typeface="Calibri" pitchFamily="34" charset="0"/>
                <a:ea typeface="Calibri" pitchFamily="34" charset="-122"/>
                <a:cs typeface="Calibri" pitchFamily="34" charset="-120"/>
              </a:rPr>
              <a:t>4.  Create an appointment booking system with department selection</a:t>
            </a:r>
            <a:endParaRPr lang="en-US" sz="1600" b="1" dirty="0"/>
          </a:p>
          <a:p>
            <a:pPr marL="0" indent="0">
              <a:spcAft>
                <a:spcPts val="800"/>
              </a:spcAft>
              <a:buNone/>
            </a:pPr>
            <a:r>
              <a:rPr lang="en-US" sz="1600" b="1" dirty="0">
                <a:solidFill>
                  <a:srgbClr val="F1F5F9"/>
                </a:solidFill>
                <a:latin typeface="Calibri" pitchFamily="34" charset="0"/>
                <a:ea typeface="Calibri" pitchFamily="34" charset="-122"/>
                <a:cs typeface="Calibri" pitchFamily="34" charset="-120"/>
              </a:rPr>
              <a:t>5.  Develop a prescription issuance module with auto date-stamping</a:t>
            </a:r>
            <a:endParaRPr lang="en-US" sz="1600" b="1" dirty="0"/>
          </a:p>
          <a:p>
            <a:pPr marL="0" indent="0">
              <a:spcAft>
                <a:spcPts val="800"/>
              </a:spcAft>
              <a:buNone/>
            </a:pPr>
            <a:r>
              <a:rPr lang="en-US" sz="1600" b="1" dirty="0">
                <a:solidFill>
                  <a:srgbClr val="F1F5F9"/>
                </a:solidFill>
                <a:latin typeface="Calibri" pitchFamily="34" charset="0"/>
                <a:ea typeface="Calibri" pitchFamily="34" charset="-122"/>
                <a:cs typeface="Calibri" pitchFamily="34" charset="-120"/>
              </a:rPr>
              <a:t>6.  Use in-memory Python data structures; no database server required</a:t>
            </a:r>
            <a:endParaRPr lang="en-US" sz="1600" b="1" dirty="0"/>
          </a:p>
        </p:txBody>
      </p:sp>
      <p:sp>
        <p:nvSpPr>
          <p:cNvPr id="26" name="TextBox 25">
            <a:extLst>
              <a:ext uri="{FF2B5EF4-FFF2-40B4-BE49-F238E27FC236}">
                <a16:creationId xmlns:a16="http://schemas.microsoft.com/office/drawing/2014/main" id="{B9CCEB72-0C08-6887-68CA-EF8DBD744988}"/>
              </a:ext>
            </a:extLst>
          </p:cNvPr>
          <p:cNvSpPr txBox="1"/>
          <p:nvPr/>
        </p:nvSpPr>
        <p:spPr>
          <a:xfrm>
            <a:off x="8763000" y="4838700"/>
            <a:ext cx="146304" cy="369332"/>
          </a:xfrm>
          <a:prstGeom prst="rect">
            <a:avLst/>
          </a:prstGeom>
          <a:noFill/>
        </p:spPr>
        <p:txBody>
          <a:bodyPr wrap="square" rtlCol="0">
            <a:spAutoFit/>
          </a:bodyPr>
          <a:lstStyle/>
          <a:p>
            <a:r>
              <a:rPr lang="en-GB" b="1" dirty="0">
                <a:solidFill>
                  <a:schemeClr val="bg1"/>
                </a:solidFill>
              </a:rPr>
              <a:t>4</a:t>
            </a:r>
            <a:endParaRPr lang="en-US" b="1"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366"/>
          </a:solidFill>
          <a:ln w="12700">
            <a:solidFill>
              <a:srgbClr val="003366"/>
            </a:solidFill>
            <a:prstDash val="solid"/>
          </a:ln>
        </p:spPr>
      </p:sp>
      <p:sp>
        <p:nvSpPr>
          <p:cNvPr id="3" name="Text 1"/>
          <p:cNvSpPr/>
          <p:nvPr/>
        </p:nvSpPr>
        <p:spPr>
          <a:xfrm>
            <a:off x="320040" y="0"/>
            <a:ext cx="8503920" cy="804672"/>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System Architecture &amp; Technologies</a:t>
            </a:r>
            <a:endParaRPr lang="en-US" sz="2400" dirty="0"/>
          </a:p>
        </p:txBody>
      </p:sp>
      <p:sp>
        <p:nvSpPr>
          <p:cNvPr id="4" name="Text 2"/>
          <p:cNvSpPr/>
          <p:nvPr/>
        </p:nvSpPr>
        <p:spPr>
          <a:xfrm>
            <a:off x="320040" y="822960"/>
            <a:ext cx="8503920" cy="256032"/>
          </a:xfrm>
          <a:prstGeom prst="rect">
            <a:avLst/>
          </a:prstGeom>
          <a:noFill/>
          <a:ln/>
        </p:spPr>
        <p:txBody>
          <a:bodyPr wrap="square" rtlCol="0" anchor="ctr"/>
          <a:lstStyle/>
          <a:p>
            <a:pPr marL="0" indent="0">
              <a:buNone/>
            </a:pPr>
            <a:r>
              <a:rPr lang="en-US" b="1" dirty="0">
                <a:solidFill>
                  <a:srgbClr val="14B8A6"/>
                </a:solidFill>
                <a:latin typeface="Calibri" pitchFamily="34" charset="0"/>
                <a:ea typeface="Calibri" pitchFamily="34" charset="-122"/>
                <a:cs typeface="Calibri" pitchFamily="34" charset="-120"/>
              </a:rPr>
              <a:t>Three-tier logical architecture — no database or server required</a:t>
            </a:r>
            <a:endParaRPr lang="en-US" b="1" dirty="0"/>
          </a:p>
        </p:txBody>
      </p:sp>
      <p:sp>
        <p:nvSpPr>
          <p:cNvPr id="5" name="Shape 3"/>
          <p:cNvSpPr/>
          <p:nvPr/>
        </p:nvSpPr>
        <p:spPr>
          <a:xfrm>
            <a:off x="365760" y="1135380"/>
            <a:ext cx="8412480" cy="841248"/>
          </a:xfrm>
          <a:prstGeom prst="rect">
            <a:avLst/>
          </a:prstGeom>
          <a:solidFill>
            <a:srgbClr val="1A2E5A"/>
          </a:solidFill>
          <a:ln w="22860">
            <a:solidFill>
              <a:srgbClr val="0D9488"/>
            </a:solidFill>
            <a:prstDash val="solid"/>
          </a:ln>
        </p:spPr>
      </p:sp>
      <p:sp>
        <p:nvSpPr>
          <p:cNvPr id="6" name="Shape 4"/>
          <p:cNvSpPr/>
          <p:nvPr/>
        </p:nvSpPr>
        <p:spPr>
          <a:xfrm>
            <a:off x="365760" y="1135380"/>
            <a:ext cx="73152" cy="841248"/>
          </a:xfrm>
          <a:prstGeom prst="rect">
            <a:avLst/>
          </a:prstGeom>
          <a:solidFill>
            <a:srgbClr val="0D9488"/>
          </a:solidFill>
          <a:ln w="12700">
            <a:solidFill>
              <a:srgbClr val="0D9488"/>
            </a:solidFill>
            <a:prstDash val="solid"/>
          </a:ln>
        </p:spPr>
      </p:sp>
      <p:sp>
        <p:nvSpPr>
          <p:cNvPr id="7" name="Text 5"/>
          <p:cNvSpPr/>
          <p:nvPr/>
        </p:nvSpPr>
        <p:spPr>
          <a:xfrm>
            <a:off x="548640" y="1208532"/>
            <a:ext cx="8229600" cy="256032"/>
          </a:xfrm>
          <a:prstGeom prst="rect">
            <a:avLst/>
          </a:prstGeom>
          <a:noFill/>
          <a:ln/>
        </p:spPr>
        <p:txBody>
          <a:bodyPr wrap="square" lIns="0" tIns="0" rIns="0" bIns="0" rtlCol="0" anchor="ctr"/>
          <a:lstStyle/>
          <a:p>
            <a:pPr marL="0" indent="0">
              <a:buNone/>
            </a:pPr>
            <a:r>
              <a:rPr lang="en-US" sz="1600" b="1" dirty="0">
                <a:solidFill>
                  <a:srgbClr val="0D9488"/>
                </a:solidFill>
                <a:latin typeface="Calibri" pitchFamily="34" charset="0"/>
                <a:ea typeface="Calibri" pitchFamily="34" charset="-122"/>
                <a:cs typeface="Calibri" pitchFamily="34" charset="-120"/>
              </a:rPr>
              <a:t>PRESENTATION LAYER</a:t>
            </a:r>
            <a:endParaRPr lang="en-US" sz="1600" dirty="0"/>
          </a:p>
        </p:txBody>
      </p:sp>
      <p:sp>
        <p:nvSpPr>
          <p:cNvPr id="8" name="Text 6"/>
          <p:cNvSpPr/>
          <p:nvPr/>
        </p:nvSpPr>
        <p:spPr>
          <a:xfrm>
            <a:off x="548640" y="1482852"/>
            <a:ext cx="8229600" cy="402336"/>
          </a:xfrm>
          <a:prstGeom prst="rect">
            <a:avLst/>
          </a:prstGeom>
          <a:noFill/>
          <a:ln/>
        </p:spPr>
        <p:txBody>
          <a:bodyPr wrap="square" lIns="0" tIns="0" rIns="0" bIns="0" rtlCol="0" anchor="ctr"/>
          <a:lstStyle/>
          <a:p>
            <a:pPr marL="0" indent="0">
              <a:buNone/>
            </a:pPr>
            <a:r>
              <a:rPr lang="en-US" sz="1400" b="1" dirty="0">
                <a:solidFill>
                  <a:srgbClr val="F1F5F9"/>
                </a:solidFill>
                <a:latin typeface="Calibri" pitchFamily="34" charset="0"/>
                <a:ea typeface="Calibri" pitchFamily="34" charset="-122"/>
                <a:cs typeface="Calibri" pitchFamily="34" charset="-120"/>
              </a:rPr>
              <a:t>ipywidgets GUI — Buttons, text boxes, dropdowns, tabs rendered as HTML in Jupyter/Colab browser interface</a:t>
            </a:r>
            <a:endParaRPr lang="en-US" sz="1400" b="1" dirty="0"/>
          </a:p>
        </p:txBody>
      </p:sp>
      <p:sp>
        <p:nvSpPr>
          <p:cNvPr id="9" name="Shape 7"/>
          <p:cNvSpPr/>
          <p:nvPr/>
        </p:nvSpPr>
        <p:spPr>
          <a:xfrm>
            <a:off x="350520" y="2514600"/>
            <a:ext cx="8412480" cy="841248"/>
          </a:xfrm>
          <a:prstGeom prst="rect">
            <a:avLst/>
          </a:prstGeom>
          <a:solidFill>
            <a:srgbClr val="1A2E5A"/>
          </a:solidFill>
          <a:ln w="22860">
            <a:solidFill>
              <a:srgbClr val="1D6FA4"/>
            </a:solidFill>
            <a:prstDash val="solid"/>
          </a:ln>
        </p:spPr>
      </p:sp>
      <p:sp>
        <p:nvSpPr>
          <p:cNvPr id="10" name="Shape 8"/>
          <p:cNvSpPr/>
          <p:nvPr/>
        </p:nvSpPr>
        <p:spPr>
          <a:xfrm>
            <a:off x="365760" y="2514600"/>
            <a:ext cx="73152" cy="841248"/>
          </a:xfrm>
          <a:prstGeom prst="rect">
            <a:avLst/>
          </a:prstGeom>
          <a:solidFill>
            <a:srgbClr val="1D6FA4"/>
          </a:solidFill>
          <a:ln w="12700">
            <a:solidFill>
              <a:srgbClr val="1D6FA4"/>
            </a:solidFill>
            <a:prstDash val="solid"/>
          </a:ln>
        </p:spPr>
      </p:sp>
      <p:sp>
        <p:nvSpPr>
          <p:cNvPr id="11" name="Text 9"/>
          <p:cNvSpPr/>
          <p:nvPr/>
        </p:nvSpPr>
        <p:spPr>
          <a:xfrm>
            <a:off x="548640" y="2587752"/>
            <a:ext cx="8229600" cy="256032"/>
          </a:xfrm>
          <a:prstGeom prst="rect">
            <a:avLst/>
          </a:prstGeom>
          <a:noFill/>
          <a:ln/>
        </p:spPr>
        <p:txBody>
          <a:bodyPr wrap="square" lIns="0" tIns="0" rIns="0" bIns="0" rtlCol="0" anchor="ctr"/>
          <a:lstStyle/>
          <a:p>
            <a:pPr marL="0" indent="0">
              <a:buNone/>
            </a:pPr>
            <a:r>
              <a:rPr lang="en-US" sz="1600" b="1" dirty="0">
                <a:solidFill>
                  <a:srgbClr val="1D6FA4"/>
                </a:solidFill>
                <a:latin typeface="Calibri" pitchFamily="34" charset="0"/>
                <a:ea typeface="Calibri" pitchFamily="34" charset="-122"/>
                <a:cs typeface="Calibri" pitchFamily="34" charset="-120"/>
              </a:rPr>
              <a:t>APPLICATION LOGIC LAYER</a:t>
            </a:r>
            <a:endParaRPr lang="en-US" sz="1600" dirty="0"/>
          </a:p>
        </p:txBody>
      </p:sp>
      <p:sp>
        <p:nvSpPr>
          <p:cNvPr id="12" name="Text 10"/>
          <p:cNvSpPr/>
          <p:nvPr/>
        </p:nvSpPr>
        <p:spPr>
          <a:xfrm>
            <a:off x="548640" y="2862072"/>
            <a:ext cx="8229600" cy="402336"/>
          </a:xfrm>
          <a:prstGeom prst="rect">
            <a:avLst/>
          </a:prstGeom>
          <a:noFill/>
          <a:ln/>
        </p:spPr>
        <p:txBody>
          <a:bodyPr wrap="square" lIns="0" tIns="0" rIns="0" bIns="0" rtlCol="0" anchor="ctr"/>
          <a:lstStyle/>
          <a:p>
            <a:pPr marL="0" indent="0">
              <a:buNone/>
            </a:pPr>
            <a:r>
              <a:rPr lang="en-US" sz="1400" b="1" dirty="0">
                <a:solidFill>
                  <a:srgbClr val="F1F5F9"/>
                </a:solidFill>
                <a:latin typeface="Calibri" pitchFamily="34" charset="0"/>
                <a:ea typeface="Calibri" pitchFamily="34" charset="-122"/>
                <a:cs typeface="Calibri" pitchFamily="34" charset="-120"/>
              </a:rPr>
              <a:t>Python functions — Input validation, ID generation, data manipulation, output formatting, error handling</a:t>
            </a:r>
            <a:endParaRPr lang="en-US" sz="1400" b="1" dirty="0"/>
          </a:p>
        </p:txBody>
      </p:sp>
      <p:sp>
        <p:nvSpPr>
          <p:cNvPr id="13" name="Shape 11"/>
          <p:cNvSpPr/>
          <p:nvPr/>
        </p:nvSpPr>
        <p:spPr>
          <a:xfrm>
            <a:off x="365760" y="3749040"/>
            <a:ext cx="8412480" cy="841248"/>
          </a:xfrm>
          <a:prstGeom prst="rect">
            <a:avLst/>
          </a:prstGeom>
          <a:solidFill>
            <a:srgbClr val="1A2E5A"/>
          </a:solidFill>
          <a:ln w="22860">
            <a:solidFill>
              <a:srgbClr val="D97706"/>
            </a:solidFill>
            <a:prstDash val="solid"/>
          </a:ln>
        </p:spPr>
      </p:sp>
      <p:sp>
        <p:nvSpPr>
          <p:cNvPr id="14" name="Shape 12"/>
          <p:cNvSpPr/>
          <p:nvPr/>
        </p:nvSpPr>
        <p:spPr>
          <a:xfrm>
            <a:off x="365760" y="3749040"/>
            <a:ext cx="73152" cy="841248"/>
          </a:xfrm>
          <a:prstGeom prst="rect">
            <a:avLst/>
          </a:prstGeom>
          <a:solidFill>
            <a:srgbClr val="D97706"/>
          </a:solidFill>
          <a:ln w="12700">
            <a:solidFill>
              <a:srgbClr val="D97706"/>
            </a:solidFill>
            <a:prstDash val="solid"/>
          </a:ln>
        </p:spPr>
      </p:sp>
      <p:sp>
        <p:nvSpPr>
          <p:cNvPr id="15" name="Text 13"/>
          <p:cNvSpPr/>
          <p:nvPr/>
        </p:nvSpPr>
        <p:spPr>
          <a:xfrm>
            <a:off x="548640" y="3822192"/>
            <a:ext cx="8229600" cy="256032"/>
          </a:xfrm>
          <a:prstGeom prst="rect">
            <a:avLst/>
          </a:prstGeom>
          <a:noFill/>
          <a:ln/>
        </p:spPr>
        <p:txBody>
          <a:bodyPr wrap="square" lIns="0" tIns="0" rIns="0" bIns="0" rtlCol="0" anchor="ctr"/>
          <a:lstStyle/>
          <a:p>
            <a:pPr marL="0" indent="0">
              <a:buNone/>
            </a:pPr>
            <a:r>
              <a:rPr lang="en-US" sz="1600" b="1" dirty="0">
                <a:solidFill>
                  <a:srgbClr val="D97706"/>
                </a:solidFill>
                <a:latin typeface="Calibri" pitchFamily="34" charset="0"/>
                <a:ea typeface="Calibri" pitchFamily="34" charset="-122"/>
                <a:cs typeface="Calibri" pitchFamily="34" charset="-120"/>
              </a:rPr>
              <a:t>DATA STORAGE LAYER</a:t>
            </a:r>
            <a:endParaRPr lang="en-US" sz="1600" dirty="0"/>
          </a:p>
        </p:txBody>
      </p:sp>
      <p:sp>
        <p:nvSpPr>
          <p:cNvPr id="16" name="Text 14"/>
          <p:cNvSpPr/>
          <p:nvPr/>
        </p:nvSpPr>
        <p:spPr>
          <a:xfrm>
            <a:off x="548640" y="4096512"/>
            <a:ext cx="8229600" cy="402336"/>
          </a:xfrm>
          <a:prstGeom prst="rect">
            <a:avLst/>
          </a:prstGeom>
          <a:noFill/>
          <a:ln/>
        </p:spPr>
        <p:txBody>
          <a:bodyPr wrap="square" lIns="0" tIns="0" rIns="0" bIns="0" rtlCol="0" anchor="ctr"/>
          <a:lstStyle/>
          <a:p>
            <a:pPr marL="0" indent="0">
              <a:buNone/>
            </a:pPr>
            <a:r>
              <a:rPr lang="en-US" sz="1400" b="1" dirty="0">
                <a:solidFill>
                  <a:srgbClr val="F1F5F9"/>
                </a:solidFill>
                <a:latin typeface="Calibri" pitchFamily="34" charset="0"/>
                <a:ea typeface="Calibri" pitchFamily="34" charset="-122"/>
                <a:cs typeface="Calibri" pitchFamily="34" charset="-120"/>
              </a:rPr>
              <a:t>In-memory Python Lists — patients[ ], appointments[ ], prescriptions[ ] — pre-loaded with 3 sample LUTH patients</a:t>
            </a:r>
            <a:endParaRPr lang="en-US" sz="1400" b="1" dirty="0"/>
          </a:p>
        </p:txBody>
      </p:sp>
      <p:sp>
        <p:nvSpPr>
          <p:cNvPr id="17" name="Shape 15"/>
          <p:cNvSpPr/>
          <p:nvPr/>
        </p:nvSpPr>
        <p:spPr>
          <a:xfrm>
            <a:off x="4572000" y="1991868"/>
            <a:ext cx="0" cy="536448"/>
          </a:xfrm>
          <a:prstGeom prst="line">
            <a:avLst/>
          </a:prstGeom>
          <a:noFill/>
          <a:ln w="25400">
            <a:solidFill>
              <a:srgbClr val="14B8A6"/>
            </a:solidFill>
            <a:prstDash val="dash"/>
          </a:ln>
        </p:spPr>
      </p:sp>
      <p:sp>
        <p:nvSpPr>
          <p:cNvPr id="18" name="Text 16"/>
          <p:cNvSpPr/>
          <p:nvPr/>
        </p:nvSpPr>
        <p:spPr>
          <a:xfrm>
            <a:off x="4617720" y="2133600"/>
            <a:ext cx="1645920" cy="219456"/>
          </a:xfrm>
          <a:prstGeom prst="rect">
            <a:avLst/>
          </a:prstGeom>
          <a:noFill/>
          <a:ln/>
        </p:spPr>
        <p:txBody>
          <a:bodyPr wrap="square" rtlCol="0" anchor="ctr"/>
          <a:lstStyle/>
          <a:p>
            <a:pPr marL="0" indent="0">
              <a:buNone/>
            </a:pPr>
            <a:r>
              <a:rPr lang="en-US" sz="1100" b="1" dirty="0">
                <a:solidFill>
                  <a:srgbClr val="94A3B8"/>
                </a:solidFill>
                <a:latin typeface="Calibri" pitchFamily="34" charset="0"/>
                <a:ea typeface="Calibri" pitchFamily="34" charset="-122"/>
                <a:cs typeface="Calibri" pitchFamily="34" charset="-120"/>
              </a:rPr>
              <a:t>communicates</a:t>
            </a:r>
            <a:endParaRPr lang="en-US" sz="1100" b="1" dirty="0"/>
          </a:p>
        </p:txBody>
      </p:sp>
      <p:sp>
        <p:nvSpPr>
          <p:cNvPr id="19" name="Shape 17"/>
          <p:cNvSpPr/>
          <p:nvPr/>
        </p:nvSpPr>
        <p:spPr>
          <a:xfrm>
            <a:off x="4572000" y="3355848"/>
            <a:ext cx="0" cy="402336"/>
          </a:xfrm>
          <a:prstGeom prst="line">
            <a:avLst/>
          </a:prstGeom>
          <a:noFill/>
          <a:ln w="25400">
            <a:solidFill>
              <a:srgbClr val="14B8A6"/>
            </a:solidFill>
            <a:prstDash val="dash"/>
          </a:ln>
        </p:spPr>
      </p:sp>
      <p:sp>
        <p:nvSpPr>
          <p:cNvPr id="20" name="Text 18"/>
          <p:cNvSpPr/>
          <p:nvPr/>
        </p:nvSpPr>
        <p:spPr>
          <a:xfrm>
            <a:off x="4617720" y="3489960"/>
            <a:ext cx="1645920" cy="219456"/>
          </a:xfrm>
          <a:prstGeom prst="rect">
            <a:avLst/>
          </a:prstGeom>
          <a:noFill/>
          <a:ln/>
        </p:spPr>
        <p:txBody>
          <a:bodyPr wrap="square" rtlCol="0" anchor="ctr"/>
          <a:lstStyle/>
          <a:p>
            <a:pPr marL="0" indent="0">
              <a:buNone/>
            </a:pPr>
            <a:r>
              <a:rPr lang="en-US" sz="1100" b="1" dirty="0">
                <a:solidFill>
                  <a:srgbClr val="94A3B8"/>
                </a:solidFill>
                <a:latin typeface="Calibri" pitchFamily="34" charset="0"/>
                <a:ea typeface="Calibri" pitchFamily="34" charset="-122"/>
                <a:cs typeface="Calibri" pitchFamily="34" charset="-120"/>
              </a:rPr>
              <a:t>communicates</a:t>
            </a:r>
            <a:endParaRPr lang="en-US" sz="1100" b="1" dirty="0"/>
          </a:p>
        </p:txBody>
      </p:sp>
      <p:sp>
        <p:nvSpPr>
          <p:cNvPr id="21" name="Text 19"/>
          <p:cNvSpPr/>
          <p:nvPr/>
        </p:nvSpPr>
        <p:spPr>
          <a:xfrm>
            <a:off x="365760" y="4736592"/>
            <a:ext cx="8412480" cy="237744"/>
          </a:xfrm>
          <a:prstGeom prst="rect">
            <a:avLst/>
          </a:prstGeom>
          <a:noFill/>
          <a:ln/>
        </p:spPr>
        <p:txBody>
          <a:bodyPr wrap="square" rtlCol="0" anchor="ctr"/>
          <a:lstStyle/>
          <a:p>
            <a:pPr marL="0" indent="0">
              <a:buNone/>
            </a:pPr>
            <a:r>
              <a:rPr lang="en-US" sz="1150" b="1" dirty="0">
                <a:solidFill>
                  <a:srgbClr val="14B8A6"/>
                </a:solidFill>
                <a:latin typeface="Calibri" pitchFamily="34" charset="0"/>
                <a:ea typeface="Calibri" pitchFamily="34" charset="-122"/>
                <a:cs typeface="Calibri" pitchFamily="34" charset="-120"/>
              </a:rPr>
              <a:t>Technologies Used:</a:t>
            </a:r>
            <a:endParaRPr lang="en-US" sz="1150" dirty="0"/>
          </a:p>
        </p:txBody>
      </p:sp>
      <p:sp>
        <p:nvSpPr>
          <p:cNvPr id="22" name="TextBox 21">
            <a:extLst>
              <a:ext uri="{FF2B5EF4-FFF2-40B4-BE49-F238E27FC236}">
                <a16:creationId xmlns:a16="http://schemas.microsoft.com/office/drawing/2014/main" id="{66AA9B9C-3897-7776-CF8B-486737030529}"/>
              </a:ext>
            </a:extLst>
          </p:cNvPr>
          <p:cNvSpPr txBox="1"/>
          <p:nvPr/>
        </p:nvSpPr>
        <p:spPr>
          <a:xfrm>
            <a:off x="8763000" y="4838700"/>
            <a:ext cx="146304" cy="369332"/>
          </a:xfrm>
          <a:prstGeom prst="rect">
            <a:avLst/>
          </a:prstGeom>
          <a:noFill/>
        </p:spPr>
        <p:txBody>
          <a:bodyPr wrap="square" rtlCol="0">
            <a:spAutoFit/>
          </a:bodyPr>
          <a:lstStyle/>
          <a:p>
            <a:r>
              <a:rPr lang="en-GB" b="1" dirty="0">
                <a:solidFill>
                  <a:schemeClr val="bg1"/>
                </a:solidFill>
              </a:rPr>
              <a:t>5</a:t>
            </a:r>
            <a:endParaRPr lang="en-US" b="1"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366"/>
          </a:solidFill>
          <a:ln w="12700">
            <a:solidFill>
              <a:srgbClr val="003366"/>
            </a:solidFill>
            <a:prstDash val="solid"/>
          </a:ln>
        </p:spPr>
      </p:sp>
      <p:sp>
        <p:nvSpPr>
          <p:cNvPr id="3" name="Text 1"/>
          <p:cNvSpPr/>
          <p:nvPr/>
        </p:nvSpPr>
        <p:spPr>
          <a:xfrm>
            <a:off x="320040" y="0"/>
            <a:ext cx="8503920" cy="804672"/>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System Flow Diagram</a:t>
            </a:r>
            <a:endParaRPr lang="en-US" sz="2400" dirty="0"/>
          </a:p>
        </p:txBody>
      </p:sp>
      <p:sp>
        <p:nvSpPr>
          <p:cNvPr id="4" name="Text 2"/>
          <p:cNvSpPr/>
          <p:nvPr/>
        </p:nvSpPr>
        <p:spPr>
          <a:xfrm>
            <a:off x="320040" y="822960"/>
            <a:ext cx="8503920" cy="256032"/>
          </a:xfrm>
          <a:prstGeom prst="rect">
            <a:avLst/>
          </a:prstGeom>
          <a:noFill/>
          <a:ln/>
        </p:spPr>
        <p:txBody>
          <a:bodyPr wrap="square" rtlCol="0" anchor="ctr"/>
          <a:lstStyle/>
          <a:p>
            <a:pPr marL="0" indent="0">
              <a:buNone/>
            </a:pPr>
            <a:r>
              <a:rPr lang="en-US" b="1" dirty="0">
                <a:solidFill>
                  <a:srgbClr val="14B8A6"/>
                </a:solidFill>
                <a:latin typeface="Calibri" pitchFamily="34" charset="0"/>
                <a:ea typeface="Calibri" pitchFamily="34" charset="-122"/>
                <a:cs typeface="Calibri" pitchFamily="34" charset="-120"/>
              </a:rPr>
              <a:t>Complete process logic from application launch to output display</a:t>
            </a:r>
            <a:endParaRPr lang="en-US" b="1" dirty="0"/>
          </a:p>
        </p:txBody>
      </p:sp>
      <p:pic>
        <p:nvPicPr>
          <p:cNvPr id="5" name="Image 0" descr="preencoded.png"/>
          <p:cNvPicPr>
            <a:picLocks noChangeAspect="1"/>
          </p:cNvPicPr>
          <p:nvPr/>
        </p:nvPicPr>
        <p:blipFill>
          <a:blip r:embed="rId3"/>
          <a:stretch>
            <a:fillRect/>
          </a:stretch>
        </p:blipFill>
        <p:spPr>
          <a:xfrm>
            <a:off x="365760" y="1082040"/>
            <a:ext cx="8412480" cy="4041648"/>
          </a:xfrm>
          <a:prstGeom prst="rect">
            <a:avLst/>
          </a:prstGeom>
        </p:spPr>
      </p:pic>
      <p:sp>
        <p:nvSpPr>
          <p:cNvPr id="6" name="Text 3"/>
          <p:cNvSpPr/>
          <p:nvPr/>
        </p:nvSpPr>
        <p:spPr>
          <a:xfrm>
            <a:off x="365760" y="4846320"/>
            <a:ext cx="8412480" cy="228600"/>
          </a:xfrm>
          <a:prstGeom prst="rect">
            <a:avLst/>
          </a:prstGeom>
          <a:noFill/>
          <a:ln/>
        </p:spPr>
        <p:txBody>
          <a:bodyPr wrap="square"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Decision diamonds (amber) represent validation checkpoints that protect data integrity across all four modules.</a:t>
            </a:r>
            <a:endParaRPr lang="en-US" sz="1200" b="1" dirty="0"/>
          </a:p>
        </p:txBody>
      </p:sp>
      <p:sp>
        <p:nvSpPr>
          <p:cNvPr id="7" name="TextBox 6">
            <a:extLst>
              <a:ext uri="{FF2B5EF4-FFF2-40B4-BE49-F238E27FC236}">
                <a16:creationId xmlns:a16="http://schemas.microsoft.com/office/drawing/2014/main" id="{0B9847CF-C53E-8D57-09E6-3C769F262187}"/>
              </a:ext>
            </a:extLst>
          </p:cNvPr>
          <p:cNvSpPr txBox="1"/>
          <p:nvPr/>
        </p:nvSpPr>
        <p:spPr>
          <a:xfrm>
            <a:off x="8763000" y="4838700"/>
            <a:ext cx="146304" cy="369332"/>
          </a:xfrm>
          <a:prstGeom prst="rect">
            <a:avLst/>
          </a:prstGeom>
          <a:noFill/>
        </p:spPr>
        <p:txBody>
          <a:bodyPr wrap="square" rtlCol="0">
            <a:spAutoFit/>
          </a:bodyPr>
          <a:lstStyle/>
          <a:p>
            <a:r>
              <a:rPr lang="en-GB" b="1" dirty="0">
                <a:solidFill>
                  <a:schemeClr val="bg1"/>
                </a:solidFill>
              </a:rPr>
              <a:t>6</a:t>
            </a:r>
            <a:endParaRPr lang="en-US" b="1"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366"/>
          </a:solidFill>
          <a:ln w="12700">
            <a:solidFill>
              <a:srgbClr val="003366"/>
            </a:solidFill>
            <a:prstDash val="solid"/>
          </a:ln>
        </p:spPr>
      </p:sp>
      <p:sp>
        <p:nvSpPr>
          <p:cNvPr id="3" name="Text 1"/>
          <p:cNvSpPr/>
          <p:nvPr/>
        </p:nvSpPr>
        <p:spPr>
          <a:xfrm>
            <a:off x="320040" y="0"/>
            <a:ext cx="8503920" cy="804672"/>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Tab 1: Register New Patient</a:t>
            </a:r>
            <a:endParaRPr lang="en-US" sz="2400" dirty="0"/>
          </a:p>
        </p:txBody>
      </p:sp>
      <p:sp>
        <p:nvSpPr>
          <p:cNvPr id="4" name="Text 2"/>
          <p:cNvSpPr/>
          <p:nvPr/>
        </p:nvSpPr>
        <p:spPr>
          <a:xfrm>
            <a:off x="320040" y="822960"/>
            <a:ext cx="8503920" cy="256032"/>
          </a:xfrm>
          <a:prstGeom prst="rect">
            <a:avLst/>
          </a:prstGeom>
          <a:noFill/>
          <a:ln/>
        </p:spPr>
        <p:txBody>
          <a:bodyPr wrap="square" rtlCol="0" anchor="ctr"/>
          <a:lstStyle/>
          <a:p>
            <a:pPr marL="0" indent="0">
              <a:buNone/>
            </a:pPr>
            <a:r>
              <a:rPr lang="en-US" b="1" dirty="0">
                <a:solidFill>
                  <a:srgbClr val="14B8A6"/>
                </a:solidFill>
                <a:latin typeface="Calibri" pitchFamily="34" charset="0"/>
                <a:ea typeface="Calibri" pitchFamily="34" charset="-122"/>
                <a:cs typeface="Calibri" pitchFamily="34" charset="-120"/>
              </a:rPr>
              <a:t>Entry point for all new hospital visitors — auto-generates unique patient ID</a:t>
            </a:r>
            <a:endParaRPr lang="en-US" b="1" dirty="0"/>
          </a:p>
        </p:txBody>
      </p:sp>
      <p:pic>
        <p:nvPicPr>
          <p:cNvPr id="5" name="Image 0" descr="preencoded.png"/>
          <p:cNvPicPr>
            <a:picLocks noChangeAspect="1"/>
          </p:cNvPicPr>
          <p:nvPr/>
        </p:nvPicPr>
        <p:blipFill>
          <a:blip r:embed="rId3"/>
          <a:stretch>
            <a:fillRect/>
          </a:stretch>
        </p:blipFill>
        <p:spPr>
          <a:xfrm>
            <a:off x="365760" y="1092708"/>
            <a:ext cx="5486400" cy="3063240"/>
          </a:xfrm>
          <a:prstGeom prst="rect">
            <a:avLst/>
          </a:prstGeom>
        </p:spPr>
      </p:pic>
      <p:sp>
        <p:nvSpPr>
          <p:cNvPr id="6" name="Shape 3"/>
          <p:cNvSpPr/>
          <p:nvPr/>
        </p:nvSpPr>
        <p:spPr>
          <a:xfrm>
            <a:off x="6035040" y="1054608"/>
            <a:ext cx="2743200" cy="3063240"/>
          </a:xfrm>
          <a:prstGeom prst="rect">
            <a:avLst/>
          </a:prstGeom>
          <a:solidFill>
            <a:srgbClr val="1A2E5A"/>
          </a:solidFill>
          <a:ln w="15240">
            <a:solidFill>
              <a:srgbClr val="16A34A"/>
            </a:solidFill>
            <a:prstDash val="solid"/>
          </a:ln>
        </p:spPr>
      </p:sp>
      <p:sp>
        <p:nvSpPr>
          <p:cNvPr id="7" name="Text 4"/>
          <p:cNvSpPr/>
          <p:nvPr/>
        </p:nvSpPr>
        <p:spPr>
          <a:xfrm>
            <a:off x="6172200" y="1146048"/>
            <a:ext cx="2468880" cy="256032"/>
          </a:xfrm>
          <a:prstGeom prst="rect">
            <a:avLst/>
          </a:prstGeom>
          <a:noFill/>
          <a:ln/>
        </p:spPr>
        <p:txBody>
          <a:bodyPr wrap="square" lIns="0" tIns="0" rIns="0" bIns="0" rtlCol="0" anchor="ctr"/>
          <a:lstStyle/>
          <a:p>
            <a:pPr marL="0" indent="0">
              <a:buNone/>
            </a:pPr>
            <a:r>
              <a:rPr lang="en-US" b="1" dirty="0">
                <a:solidFill>
                  <a:srgbClr val="16A34A"/>
                </a:solidFill>
                <a:latin typeface="Calibri" pitchFamily="34" charset="0"/>
                <a:ea typeface="Calibri" pitchFamily="34" charset="-122"/>
                <a:cs typeface="Calibri" pitchFamily="34" charset="-120"/>
              </a:rPr>
              <a:t>FEATURES</a:t>
            </a:r>
            <a:endParaRPr lang="en-US" dirty="0"/>
          </a:p>
        </p:txBody>
      </p:sp>
      <p:sp>
        <p:nvSpPr>
          <p:cNvPr id="8" name="Text 5"/>
          <p:cNvSpPr/>
          <p:nvPr/>
        </p:nvSpPr>
        <p:spPr>
          <a:xfrm>
            <a:off x="6144768" y="1371600"/>
            <a:ext cx="2468880" cy="2487168"/>
          </a:xfrm>
          <a:prstGeom prst="rect">
            <a:avLst/>
          </a:prstGeom>
          <a:noFill/>
          <a:ln/>
        </p:spPr>
        <p:txBody>
          <a:bodyPr wrap="square" rtlCol="0" anchor="t"/>
          <a:lstStyle/>
          <a:p>
            <a:pPr marL="342900" indent="-342900">
              <a:spcAft>
                <a:spcPts val="800"/>
              </a:spcAft>
              <a:buSzPct val="100000"/>
              <a:buChar char="•"/>
            </a:pPr>
            <a:r>
              <a:rPr lang="en-US" sz="1200" b="1" dirty="0">
                <a:solidFill>
                  <a:srgbClr val="F1F5F9"/>
                </a:solidFill>
                <a:latin typeface="Calibri" pitchFamily="34" charset="0"/>
                <a:ea typeface="Calibri" pitchFamily="34" charset="-122"/>
                <a:cs typeface="Calibri" pitchFamily="34" charset="-120"/>
              </a:rPr>
              <a:t>6 input fields:</a:t>
            </a:r>
            <a:endParaRPr lang="en-US" sz="1200" b="1" dirty="0"/>
          </a:p>
          <a:p>
            <a:pPr marL="342900" indent="-342900">
              <a:spcAft>
                <a:spcPts val="800"/>
              </a:spcAft>
              <a:buSzPct val="100000"/>
              <a:buChar char="•"/>
            </a:pPr>
            <a:r>
              <a:rPr lang="en-US" sz="1200" b="1" dirty="0">
                <a:solidFill>
                  <a:srgbClr val="F1F5F9"/>
                </a:solidFill>
                <a:latin typeface="Calibri" pitchFamily="34" charset="0"/>
                <a:ea typeface="Calibri" pitchFamily="34" charset="-122"/>
                <a:cs typeface="Calibri" pitchFamily="34" charset="-120"/>
              </a:rPr>
              <a:t>Name, Age, Gender, Phone, Blood, Allergies</a:t>
            </a:r>
            <a:endParaRPr lang="en-US" sz="1200" b="1" dirty="0"/>
          </a:p>
          <a:p>
            <a:pPr marL="342900" indent="-342900">
              <a:spcAft>
                <a:spcPts val="800"/>
              </a:spcAft>
              <a:buSzPct val="100000"/>
              <a:buChar char="•"/>
            </a:pPr>
            <a:r>
              <a:rPr lang="en-US" sz="1200" b="1" dirty="0">
                <a:solidFill>
                  <a:srgbClr val="F1F5F9"/>
                </a:solidFill>
                <a:latin typeface="Calibri" pitchFamily="34" charset="0"/>
                <a:ea typeface="Calibri" pitchFamily="34" charset="-122"/>
                <a:cs typeface="Calibri" pitchFamily="34" charset="-120"/>
              </a:rPr>
              <a:t>Dropdown menus for Gender &amp; Blood Group (8 types)</a:t>
            </a:r>
            <a:endParaRPr lang="en-US" sz="1200" b="1" dirty="0"/>
          </a:p>
          <a:p>
            <a:pPr marL="342900" indent="-342900">
              <a:spcAft>
                <a:spcPts val="800"/>
              </a:spcAft>
              <a:buSzPct val="100000"/>
              <a:buChar char="•"/>
            </a:pPr>
            <a:r>
              <a:rPr lang="en-US" sz="1200" b="1" dirty="0">
                <a:solidFill>
                  <a:srgbClr val="F1F5F9"/>
                </a:solidFill>
                <a:latin typeface="Calibri" pitchFamily="34" charset="0"/>
                <a:ea typeface="Calibri" pitchFamily="34" charset="-122"/>
                <a:cs typeface="Calibri" pitchFamily="34" charset="-120"/>
              </a:rPr>
              <a:t>Input validation: name cannot be empty</a:t>
            </a:r>
            <a:endParaRPr lang="en-US" sz="1200" b="1" dirty="0"/>
          </a:p>
          <a:p>
            <a:pPr marL="342900" indent="-342900">
              <a:spcAft>
                <a:spcPts val="800"/>
              </a:spcAft>
              <a:buSzPct val="100000"/>
              <a:buChar char="•"/>
            </a:pPr>
            <a:r>
              <a:rPr lang="en-US" sz="1200" b="1" dirty="0">
                <a:solidFill>
                  <a:srgbClr val="F1F5F9"/>
                </a:solidFill>
                <a:latin typeface="Calibri" pitchFamily="34" charset="0"/>
                <a:ea typeface="Calibri" pitchFamily="34" charset="-122"/>
                <a:cs typeface="Calibri" pitchFamily="34" charset="-120"/>
              </a:rPr>
              <a:t>Auto-generates ID:</a:t>
            </a:r>
            <a:endParaRPr lang="en-US" sz="1200" b="1" dirty="0"/>
          </a:p>
          <a:p>
            <a:pPr marL="342900" indent="-342900">
              <a:spcAft>
                <a:spcPts val="800"/>
              </a:spcAft>
              <a:buSzPct val="100000"/>
              <a:buChar char="•"/>
            </a:pPr>
            <a:r>
              <a:rPr lang="en-US" sz="1200" b="1" dirty="0">
                <a:solidFill>
                  <a:srgbClr val="F1F5F9"/>
                </a:solidFill>
                <a:latin typeface="Calibri" pitchFamily="34" charset="0"/>
                <a:ea typeface="Calibri" pitchFamily="34" charset="-122"/>
                <a:cs typeface="Calibri" pitchFamily="34" charset="-120"/>
              </a:rPr>
              <a:t>LUTH-2025-XXX (sequential)</a:t>
            </a:r>
            <a:endParaRPr lang="en-US" sz="1200" b="1" dirty="0"/>
          </a:p>
          <a:p>
            <a:pPr marL="342900" indent="-342900">
              <a:spcAft>
                <a:spcPts val="800"/>
              </a:spcAft>
              <a:buSzPct val="100000"/>
              <a:buChar char="•"/>
            </a:pPr>
            <a:r>
              <a:rPr lang="en-US" sz="1200" b="1" dirty="0">
                <a:solidFill>
                  <a:srgbClr val="F1F5F9"/>
                </a:solidFill>
                <a:latin typeface="Calibri" pitchFamily="34" charset="0"/>
                <a:ea typeface="Calibri" pitchFamily="34" charset="-122"/>
                <a:cs typeface="Calibri" pitchFamily="34" charset="-120"/>
              </a:rPr>
              <a:t>Form auto-clears after successful registration</a:t>
            </a:r>
            <a:endParaRPr lang="en-US" sz="1200" b="1" dirty="0"/>
          </a:p>
        </p:txBody>
      </p:sp>
      <p:sp>
        <p:nvSpPr>
          <p:cNvPr id="9" name="Shape 6"/>
          <p:cNvSpPr/>
          <p:nvPr/>
        </p:nvSpPr>
        <p:spPr>
          <a:xfrm>
            <a:off x="365760" y="4133088"/>
            <a:ext cx="8412480" cy="777240"/>
          </a:xfrm>
          <a:prstGeom prst="rect">
            <a:avLst/>
          </a:prstGeom>
          <a:solidFill>
            <a:srgbClr val="1A2E5A"/>
          </a:solidFill>
          <a:ln w="12700">
            <a:solidFill>
              <a:srgbClr val="16A34A"/>
            </a:solidFill>
            <a:prstDash val="solid"/>
          </a:ln>
        </p:spPr>
      </p:sp>
      <p:sp>
        <p:nvSpPr>
          <p:cNvPr id="10" name="Text 7"/>
          <p:cNvSpPr/>
          <p:nvPr/>
        </p:nvSpPr>
        <p:spPr>
          <a:xfrm>
            <a:off x="502920" y="4187952"/>
            <a:ext cx="8229600" cy="658368"/>
          </a:xfrm>
          <a:prstGeom prst="rect">
            <a:avLst/>
          </a:prstGeom>
          <a:noFill/>
          <a:ln/>
        </p:spPr>
        <p:txBody>
          <a:bodyPr wrap="square" rtlCol="0" anchor="ctr"/>
          <a:lstStyle/>
          <a:p>
            <a:pPr marL="0" indent="0">
              <a:buNone/>
            </a:pPr>
            <a:r>
              <a:rPr lang="en-US" sz="1400" b="1" dirty="0">
                <a:solidFill>
                  <a:srgbClr val="F1F5F9"/>
                </a:solidFill>
                <a:latin typeface="Calibri" pitchFamily="34" charset="0"/>
                <a:ea typeface="Calibri" pitchFamily="34" charset="-122"/>
                <a:cs typeface="Calibri" pitchFamily="34" charset="-120"/>
              </a:rPr>
              <a:t>Like filling in a child's school enrollment form; the hospital records who you are, your age, and important health information. The computer automatically gives you your own hospital number!</a:t>
            </a:r>
            <a:endParaRPr lang="en-US" sz="1400" b="1" dirty="0"/>
          </a:p>
        </p:txBody>
      </p:sp>
      <p:sp>
        <p:nvSpPr>
          <p:cNvPr id="11" name="TextBox 10">
            <a:extLst>
              <a:ext uri="{FF2B5EF4-FFF2-40B4-BE49-F238E27FC236}">
                <a16:creationId xmlns:a16="http://schemas.microsoft.com/office/drawing/2014/main" id="{967121CC-77B7-205B-6B38-182CA48E0654}"/>
              </a:ext>
            </a:extLst>
          </p:cNvPr>
          <p:cNvSpPr txBox="1"/>
          <p:nvPr/>
        </p:nvSpPr>
        <p:spPr>
          <a:xfrm>
            <a:off x="8763000" y="4838700"/>
            <a:ext cx="146304" cy="369332"/>
          </a:xfrm>
          <a:prstGeom prst="rect">
            <a:avLst/>
          </a:prstGeom>
          <a:noFill/>
        </p:spPr>
        <p:txBody>
          <a:bodyPr wrap="square" rtlCol="0">
            <a:spAutoFit/>
          </a:bodyPr>
          <a:lstStyle/>
          <a:p>
            <a:r>
              <a:rPr lang="en-GB" b="1" dirty="0">
                <a:solidFill>
                  <a:schemeClr val="bg1"/>
                </a:solidFill>
              </a:rPr>
              <a:t>7</a:t>
            </a:r>
            <a:endParaRPr lang="en-US" b="1" dirty="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366"/>
          </a:solidFill>
          <a:ln w="12700">
            <a:solidFill>
              <a:srgbClr val="003366"/>
            </a:solidFill>
            <a:prstDash val="solid"/>
          </a:ln>
        </p:spPr>
      </p:sp>
      <p:sp>
        <p:nvSpPr>
          <p:cNvPr id="3" name="Text 1"/>
          <p:cNvSpPr/>
          <p:nvPr/>
        </p:nvSpPr>
        <p:spPr>
          <a:xfrm>
            <a:off x="320040" y="0"/>
            <a:ext cx="8503920" cy="804672"/>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Tab 2: Patient Records</a:t>
            </a:r>
            <a:endParaRPr lang="en-US" sz="2400" dirty="0"/>
          </a:p>
        </p:txBody>
      </p:sp>
      <p:sp>
        <p:nvSpPr>
          <p:cNvPr id="4" name="Text 2"/>
          <p:cNvSpPr/>
          <p:nvPr/>
        </p:nvSpPr>
        <p:spPr>
          <a:xfrm>
            <a:off x="320040" y="822960"/>
            <a:ext cx="8503920" cy="256032"/>
          </a:xfrm>
          <a:prstGeom prst="rect">
            <a:avLst/>
          </a:prstGeom>
          <a:noFill/>
          <a:ln/>
        </p:spPr>
        <p:txBody>
          <a:bodyPr wrap="square" rtlCol="0" anchor="ctr"/>
          <a:lstStyle/>
          <a:p>
            <a:pPr marL="0" indent="0">
              <a:buNone/>
            </a:pPr>
            <a:r>
              <a:rPr lang="en-US" b="1" dirty="0">
                <a:solidFill>
                  <a:srgbClr val="14B8A6"/>
                </a:solidFill>
                <a:latin typeface="Calibri" pitchFamily="34" charset="0"/>
                <a:ea typeface="Calibri" pitchFamily="34" charset="-122"/>
                <a:cs typeface="Calibri" pitchFamily="34" charset="-120"/>
              </a:rPr>
              <a:t>Searchable view of all registered patients — search by name or patient ID</a:t>
            </a:r>
            <a:endParaRPr lang="en-US" b="1" dirty="0"/>
          </a:p>
        </p:txBody>
      </p:sp>
      <p:pic>
        <p:nvPicPr>
          <p:cNvPr id="5" name="Image 0" descr="preencoded.png"/>
          <p:cNvPicPr>
            <a:picLocks noChangeAspect="1"/>
          </p:cNvPicPr>
          <p:nvPr/>
        </p:nvPicPr>
        <p:blipFill>
          <a:blip r:embed="rId3"/>
          <a:stretch>
            <a:fillRect/>
          </a:stretch>
        </p:blipFill>
        <p:spPr>
          <a:xfrm>
            <a:off x="365760" y="1077468"/>
            <a:ext cx="5486400" cy="3063240"/>
          </a:xfrm>
          <a:prstGeom prst="rect">
            <a:avLst/>
          </a:prstGeom>
        </p:spPr>
      </p:pic>
      <p:sp>
        <p:nvSpPr>
          <p:cNvPr id="6" name="Shape 3"/>
          <p:cNvSpPr/>
          <p:nvPr/>
        </p:nvSpPr>
        <p:spPr>
          <a:xfrm>
            <a:off x="6035040" y="1062228"/>
            <a:ext cx="2743200" cy="3063240"/>
          </a:xfrm>
          <a:prstGeom prst="rect">
            <a:avLst/>
          </a:prstGeom>
          <a:solidFill>
            <a:srgbClr val="1A2E5A"/>
          </a:solidFill>
          <a:ln w="15240">
            <a:solidFill>
              <a:srgbClr val="D97706"/>
            </a:solidFill>
            <a:prstDash val="solid"/>
          </a:ln>
        </p:spPr>
      </p:sp>
      <p:sp>
        <p:nvSpPr>
          <p:cNvPr id="7" name="Text 4"/>
          <p:cNvSpPr/>
          <p:nvPr/>
        </p:nvSpPr>
        <p:spPr>
          <a:xfrm>
            <a:off x="6172200" y="1153668"/>
            <a:ext cx="2468880" cy="256032"/>
          </a:xfrm>
          <a:prstGeom prst="rect">
            <a:avLst/>
          </a:prstGeom>
          <a:noFill/>
          <a:ln/>
        </p:spPr>
        <p:txBody>
          <a:bodyPr wrap="square" lIns="0" tIns="0" rIns="0" bIns="0" rtlCol="0" anchor="ctr"/>
          <a:lstStyle/>
          <a:p>
            <a:pPr marL="0" indent="0">
              <a:buNone/>
            </a:pPr>
            <a:r>
              <a:rPr lang="en-US" b="1" dirty="0">
                <a:solidFill>
                  <a:srgbClr val="D97706"/>
                </a:solidFill>
                <a:latin typeface="Calibri" pitchFamily="34" charset="0"/>
                <a:ea typeface="Calibri" pitchFamily="34" charset="-122"/>
                <a:cs typeface="Calibri" pitchFamily="34" charset="-120"/>
              </a:rPr>
              <a:t>FEATURES</a:t>
            </a:r>
            <a:endParaRPr lang="en-US" dirty="0"/>
          </a:p>
        </p:txBody>
      </p:sp>
      <p:sp>
        <p:nvSpPr>
          <p:cNvPr id="8" name="Text 5"/>
          <p:cNvSpPr/>
          <p:nvPr/>
        </p:nvSpPr>
        <p:spPr>
          <a:xfrm>
            <a:off x="6144768" y="1325880"/>
            <a:ext cx="2468880" cy="2487168"/>
          </a:xfrm>
          <a:prstGeom prst="rect">
            <a:avLst/>
          </a:prstGeom>
          <a:noFill/>
          <a:ln/>
        </p:spPr>
        <p:txBody>
          <a:bodyPr wrap="square" rtlCol="0" anchor="t"/>
          <a:lstStyle/>
          <a:p>
            <a:pPr marL="342900" indent="-342900">
              <a:spcAft>
                <a:spcPts val="800"/>
              </a:spcAft>
              <a:buSzPct val="100000"/>
              <a:buChar char="•"/>
            </a:pPr>
            <a:r>
              <a:rPr lang="en-US" sz="1400" b="1" dirty="0">
                <a:solidFill>
                  <a:srgbClr val="F1F5F9"/>
                </a:solidFill>
                <a:latin typeface="Calibri" pitchFamily="34" charset="0"/>
                <a:ea typeface="Calibri" pitchFamily="34" charset="-122"/>
                <a:cs typeface="Calibri" pitchFamily="34" charset="-120"/>
              </a:rPr>
              <a:t>Auto-displays all patients on tab open</a:t>
            </a:r>
            <a:endParaRPr lang="en-US" sz="1400" b="1" dirty="0"/>
          </a:p>
          <a:p>
            <a:pPr marL="342900" indent="-342900">
              <a:spcAft>
                <a:spcPts val="800"/>
              </a:spcAft>
              <a:buSzPct val="100000"/>
              <a:buChar char="•"/>
            </a:pPr>
            <a:r>
              <a:rPr lang="en-US" sz="1400" b="1" dirty="0">
                <a:solidFill>
                  <a:srgbClr val="F1F5F9"/>
                </a:solidFill>
                <a:latin typeface="Calibri" pitchFamily="34" charset="0"/>
                <a:ea typeface="Calibri" pitchFamily="34" charset="-122"/>
                <a:cs typeface="Calibri" pitchFamily="34" charset="-120"/>
              </a:rPr>
              <a:t>Real-time search by name OR patient ID</a:t>
            </a:r>
            <a:endParaRPr lang="en-US" sz="1400" b="1" dirty="0"/>
          </a:p>
          <a:p>
            <a:pPr marL="342900" indent="-342900">
              <a:spcAft>
                <a:spcPts val="800"/>
              </a:spcAft>
              <a:buSzPct val="100000"/>
              <a:buChar char="•"/>
            </a:pPr>
            <a:r>
              <a:rPr lang="en-US" sz="1400" b="1" dirty="0">
                <a:solidFill>
                  <a:srgbClr val="F1F5F9"/>
                </a:solidFill>
                <a:latin typeface="Calibri" pitchFamily="34" charset="0"/>
                <a:ea typeface="Calibri" pitchFamily="34" charset="-122"/>
                <a:cs typeface="Calibri" pitchFamily="34" charset="-120"/>
              </a:rPr>
              <a:t>Case-insensitive: 'adaobi' = 'ADAOBI'</a:t>
            </a:r>
            <a:endParaRPr lang="en-US" sz="1400" b="1" dirty="0"/>
          </a:p>
          <a:p>
            <a:pPr marL="342900" indent="-342900">
              <a:spcAft>
                <a:spcPts val="800"/>
              </a:spcAft>
              <a:buSzPct val="100000"/>
              <a:buChar char="•"/>
            </a:pPr>
            <a:r>
              <a:rPr lang="en-US" sz="1400" b="1" dirty="0">
                <a:solidFill>
                  <a:srgbClr val="F1F5F9"/>
                </a:solidFill>
                <a:latin typeface="Calibri" pitchFamily="34" charset="0"/>
                <a:ea typeface="Calibri" pitchFamily="34" charset="-122"/>
                <a:cs typeface="Calibri" pitchFamily="34" charset="-120"/>
              </a:rPr>
              <a:t>Shows: ID, Name, Age, Gender, Phone, Blood Group, Allergies</a:t>
            </a:r>
            <a:endParaRPr lang="en-US" sz="1400" b="1" dirty="0"/>
          </a:p>
          <a:p>
            <a:pPr marL="342900" indent="-342900">
              <a:spcAft>
                <a:spcPts val="800"/>
              </a:spcAft>
              <a:buSzPct val="100000"/>
              <a:buChar char="•"/>
            </a:pPr>
            <a:r>
              <a:rPr lang="en-US" sz="1400" b="1" dirty="0">
                <a:solidFill>
                  <a:srgbClr val="F1F5F9"/>
                </a:solidFill>
                <a:latin typeface="Calibri" pitchFamily="34" charset="0"/>
                <a:ea typeface="Calibri" pitchFamily="34" charset="-122"/>
                <a:cs typeface="Calibri" pitchFamily="34" charset="-120"/>
              </a:rPr>
              <a:t>Clear 'not found' error for failed searches</a:t>
            </a:r>
            <a:endParaRPr lang="en-US" sz="1400" b="1" dirty="0"/>
          </a:p>
        </p:txBody>
      </p:sp>
      <p:sp>
        <p:nvSpPr>
          <p:cNvPr id="9" name="Shape 6"/>
          <p:cNvSpPr/>
          <p:nvPr/>
        </p:nvSpPr>
        <p:spPr>
          <a:xfrm>
            <a:off x="365760" y="4133088"/>
            <a:ext cx="8412480" cy="777240"/>
          </a:xfrm>
          <a:prstGeom prst="rect">
            <a:avLst/>
          </a:prstGeom>
          <a:solidFill>
            <a:srgbClr val="1A2E5A"/>
          </a:solidFill>
          <a:ln w="12700">
            <a:solidFill>
              <a:srgbClr val="D97706"/>
            </a:solidFill>
            <a:prstDash val="solid"/>
          </a:ln>
        </p:spPr>
      </p:sp>
      <p:sp>
        <p:nvSpPr>
          <p:cNvPr id="10" name="Text 7"/>
          <p:cNvSpPr/>
          <p:nvPr/>
        </p:nvSpPr>
        <p:spPr>
          <a:xfrm>
            <a:off x="502920" y="4187952"/>
            <a:ext cx="8229600" cy="658368"/>
          </a:xfrm>
          <a:prstGeom prst="rect">
            <a:avLst/>
          </a:prstGeom>
          <a:noFill/>
          <a:ln/>
        </p:spPr>
        <p:txBody>
          <a:bodyPr wrap="square" rtlCol="0" anchor="ctr"/>
          <a:lstStyle/>
          <a:p>
            <a:pPr marL="0" indent="0">
              <a:buNone/>
            </a:pPr>
            <a:r>
              <a:rPr lang="en-US" sz="1600" b="1" dirty="0">
                <a:solidFill>
                  <a:srgbClr val="F1F5F9"/>
                </a:solidFill>
                <a:latin typeface="Calibri" pitchFamily="34" charset="0"/>
                <a:ea typeface="Calibri" pitchFamily="34" charset="-122"/>
                <a:cs typeface="Calibri" pitchFamily="34" charset="-120"/>
              </a:rPr>
              <a:t>Like looking up a name in a class register. The teacher can find any student's details in seconds — no flipping through pages!</a:t>
            </a:r>
            <a:endParaRPr lang="en-US" sz="1600" b="1" dirty="0"/>
          </a:p>
        </p:txBody>
      </p:sp>
      <p:sp>
        <p:nvSpPr>
          <p:cNvPr id="11" name="TextBox 10">
            <a:extLst>
              <a:ext uri="{FF2B5EF4-FFF2-40B4-BE49-F238E27FC236}">
                <a16:creationId xmlns:a16="http://schemas.microsoft.com/office/drawing/2014/main" id="{330B8A1A-5DAF-9B4E-8D0B-6DD886FF7970}"/>
              </a:ext>
            </a:extLst>
          </p:cNvPr>
          <p:cNvSpPr txBox="1"/>
          <p:nvPr/>
        </p:nvSpPr>
        <p:spPr>
          <a:xfrm>
            <a:off x="8763000" y="4838700"/>
            <a:ext cx="146304" cy="369332"/>
          </a:xfrm>
          <a:prstGeom prst="rect">
            <a:avLst/>
          </a:prstGeom>
          <a:noFill/>
        </p:spPr>
        <p:txBody>
          <a:bodyPr wrap="square" rtlCol="0">
            <a:spAutoFit/>
          </a:bodyPr>
          <a:lstStyle/>
          <a:p>
            <a:r>
              <a:rPr lang="en-GB" b="1" dirty="0">
                <a:solidFill>
                  <a:schemeClr val="bg1"/>
                </a:solidFill>
              </a:rPr>
              <a:t>8</a:t>
            </a:r>
            <a:endParaRPr lang="en-US" b="1" dirty="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366"/>
          </a:solidFill>
          <a:ln w="12700">
            <a:solidFill>
              <a:srgbClr val="003366"/>
            </a:solidFill>
            <a:prstDash val="solid"/>
          </a:ln>
        </p:spPr>
      </p:sp>
      <p:sp>
        <p:nvSpPr>
          <p:cNvPr id="3" name="Text 1"/>
          <p:cNvSpPr/>
          <p:nvPr/>
        </p:nvSpPr>
        <p:spPr>
          <a:xfrm>
            <a:off x="320040" y="0"/>
            <a:ext cx="8503920" cy="804672"/>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Tab 3: Appointments</a:t>
            </a:r>
            <a:endParaRPr lang="en-US" sz="2400" dirty="0"/>
          </a:p>
        </p:txBody>
      </p:sp>
      <p:sp>
        <p:nvSpPr>
          <p:cNvPr id="4" name="Text 2"/>
          <p:cNvSpPr/>
          <p:nvPr/>
        </p:nvSpPr>
        <p:spPr>
          <a:xfrm>
            <a:off x="320040" y="822960"/>
            <a:ext cx="8503920" cy="256032"/>
          </a:xfrm>
          <a:prstGeom prst="rect">
            <a:avLst/>
          </a:prstGeom>
          <a:noFill/>
          <a:ln/>
        </p:spPr>
        <p:txBody>
          <a:bodyPr wrap="square" rtlCol="0" anchor="ctr"/>
          <a:lstStyle/>
          <a:p>
            <a:pPr marL="0" indent="0">
              <a:buNone/>
            </a:pPr>
            <a:r>
              <a:rPr lang="en-US" b="1" dirty="0">
                <a:solidFill>
                  <a:srgbClr val="14B8A6"/>
                </a:solidFill>
                <a:latin typeface="Calibri" pitchFamily="34" charset="0"/>
                <a:ea typeface="Calibri" pitchFamily="34" charset="-122"/>
                <a:cs typeface="Calibri" pitchFamily="34" charset="-120"/>
              </a:rPr>
              <a:t>Book and view doctor appointments across 7 hospital departments</a:t>
            </a:r>
            <a:endParaRPr lang="en-US" b="1" dirty="0"/>
          </a:p>
        </p:txBody>
      </p:sp>
      <p:pic>
        <p:nvPicPr>
          <p:cNvPr id="5" name="Image 0" descr="preencoded.png"/>
          <p:cNvPicPr>
            <a:picLocks noChangeAspect="1"/>
          </p:cNvPicPr>
          <p:nvPr/>
        </p:nvPicPr>
        <p:blipFill>
          <a:blip r:embed="rId3"/>
          <a:stretch>
            <a:fillRect/>
          </a:stretch>
        </p:blipFill>
        <p:spPr>
          <a:xfrm>
            <a:off x="365760" y="1062228"/>
            <a:ext cx="5486400" cy="3063240"/>
          </a:xfrm>
          <a:prstGeom prst="rect">
            <a:avLst/>
          </a:prstGeom>
        </p:spPr>
      </p:pic>
      <p:sp>
        <p:nvSpPr>
          <p:cNvPr id="6" name="Shape 3"/>
          <p:cNvSpPr/>
          <p:nvPr/>
        </p:nvSpPr>
        <p:spPr>
          <a:xfrm>
            <a:off x="6035040" y="1077468"/>
            <a:ext cx="2743200" cy="3063240"/>
          </a:xfrm>
          <a:prstGeom prst="rect">
            <a:avLst/>
          </a:prstGeom>
          <a:solidFill>
            <a:srgbClr val="1A2E5A"/>
          </a:solidFill>
          <a:ln w="15240">
            <a:solidFill>
              <a:srgbClr val="2563EB"/>
            </a:solidFill>
            <a:prstDash val="solid"/>
          </a:ln>
        </p:spPr>
      </p:sp>
      <p:sp>
        <p:nvSpPr>
          <p:cNvPr id="7" name="Text 4"/>
          <p:cNvSpPr/>
          <p:nvPr/>
        </p:nvSpPr>
        <p:spPr>
          <a:xfrm>
            <a:off x="6172200" y="1168908"/>
            <a:ext cx="2468880" cy="256032"/>
          </a:xfrm>
          <a:prstGeom prst="rect">
            <a:avLst/>
          </a:prstGeom>
          <a:noFill/>
          <a:ln/>
        </p:spPr>
        <p:txBody>
          <a:bodyPr wrap="square" lIns="0" tIns="0" rIns="0" bIns="0" rtlCol="0" anchor="ctr"/>
          <a:lstStyle/>
          <a:p>
            <a:pPr marL="0" indent="0">
              <a:buNone/>
            </a:pPr>
            <a:r>
              <a:rPr lang="en-US" b="1" dirty="0">
                <a:solidFill>
                  <a:srgbClr val="2563EB"/>
                </a:solidFill>
                <a:latin typeface="Calibri" pitchFamily="34" charset="0"/>
                <a:ea typeface="Calibri" pitchFamily="34" charset="-122"/>
                <a:cs typeface="Calibri" pitchFamily="34" charset="-120"/>
              </a:rPr>
              <a:t>FEATURES</a:t>
            </a:r>
            <a:endParaRPr lang="en-US" dirty="0"/>
          </a:p>
        </p:txBody>
      </p:sp>
      <p:sp>
        <p:nvSpPr>
          <p:cNvPr id="8" name="Text 5"/>
          <p:cNvSpPr/>
          <p:nvPr/>
        </p:nvSpPr>
        <p:spPr>
          <a:xfrm>
            <a:off x="6144768" y="1356360"/>
            <a:ext cx="2468880" cy="2487168"/>
          </a:xfrm>
          <a:prstGeom prst="rect">
            <a:avLst/>
          </a:prstGeom>
          <a:noFill/>
          <a:ln/>
        </p:spPr>
        <p:txBody>
          <a:bodyPr wrap="square" rtlCol="0" anchor="t"/>
          <a:lstStyle/>
          <a:p>
            <a:pPr marL="342900" indent="-342900">
              <a:spcAft>
                <a:spcPts val="600"/>
              </a:spcAft>
              <a:buSzPct val="100000"/>
              <a:buChar char="•"/>
            </a:pPr>
            <a:r>
              <a:rPr lang="en-US" sz="1200" b="1" dirty="0">
                <a:solidFill>
                  <a:srgbClr val="F1F5F9"/>
                </a:solidFill>
                <a:latin typeface="Calibri" pitchFamily="34" charset="0"/>
                <a:ea typeface="Calibri" pitchFamily="34" charset="-122"/>
                <a:cs typeface="Calibri" pitchFamily="34" charset="-120"/>
              </a:rPr>
              <a:t>Validates Patient ID exists before booking</a:t>
            </a:r>
            <a:endParaRPr lang="en-US" sz="1200" b="1" dirty="0"/>
          </a:p>
          <a:p>
            <a:pPr marL="342900" indent="-342900">
              <a:spcAft>
                <a:spcPts val="600"/>
              </a:spcAft>
              <a:buSzPct val="100000"/>
              <a:buChar char="•"/>
            </a:pPr>
            <a:r>
              <a:rPr lang="en-US" sz="1200" b="1" dirty="0">
                <a:solidFill>
                  <a:srgbClr val="F1F5F9"/>
                </a:solidFill>
                <a:latin typeface="Calibri" pitchFamily="34" charset="0"/>
                <a:ea typeface="Calibri" pitchFamily="34" charset="-122"/>
                <a:cs typeface="Calibri" pitchFamily="34" charset="-120"/>
              </a:rPr>
              <a:t>7 departments: Cardiology, Endocrinology, Paediatrics, Surgery, Radiology, Lab, Pharmacy</a:t>
            </a:r>
            <a:endParaRPr lang="en-US" sz="1200" b="1" dirty="0"/>
          </a:p>
          <a:p>
            <a:pPr marL="342900" indent="-342900">
              <a:spcAft>
                <a:spcPts val="600"/>
              </a:spcAft>
              <a:buSzPct val="100000"/>
              <a:buChar char="•"/>
            </a:pPr>
            <a:r>
              <a:rPr lang="en-US" sz="1200" b="1" dirty="0">
                <a:solidFill>
                  <a:srgbClr val="F1F5F9"/>
                </a:solidFill>
                <a:latin typeface="Calibri" pitchFamily="34" charset="0"/>
                <a:ea typeface="Calibri" pitchFamily="34" charset="-122"/>
                <a:cs typeface="Calibri" pitchFamily="34" charset="-120"/>
              </a:rPr>
              <a:t>Date + Time input fields</a:t>
            </a:r>
            <a:endParaRPr lang="en-US" sz="1200" b="1" dirty="0"/>
          </a:p>
          <a:p>
            <a:pPr marL="342900" indent="-342900">
              <a:spcAft>
                <a:spcPts val="600"/>
              </a:spcAft>
              <a:buSzPct val="100000"/>
              <a:buChar char="•"/>
            </a:pPr>
            <a:r>
              <a:rPr lang="en-US" sz="1200" b="1" dirty="0">
                <a:solidFill>
                  <a:srgbClr val="F1F5F9"/>
                </a:solidFill>
                <a:latin typeface="Calibri" pitchFamily="34" charset="0"/>
                <a:ea typeface="Calibri" pitchFamily="34" charset="-122"/>
                <a:cs typeface="Calibri" pitchFamily="34" charset="-120"/>
              </a:rPr>
              <a:t>Consultation reason field</a:t>
            </a:r>
            <a:endParaRPr lang="en-US" sz="1200" b="1" dirty="0"/>
          </a:p>
          <a:p>
            <a:pPr marL="342900" indent="-342900">
              <a:spcAft>
                <a:spcPts val="600"/>
              </a:spcAft>
              <a:buSzPct val="100000"/>
              <a:buChar char="•"/>
            </a:pPr>
            <a:r>
              <a:rPr lang="en-US" sz="1200" b="1" dirty="0">
                <a:solidFill>
                  <a:srgbClr val="F1F5F9"/>
                </a:solidFill>
                <a:latin typeface="Calibri" pitchFamily="34" charset="0"/>
                <a:ea typeface="Calibri" pitchFamily="34" charset="-122"/>
                <a:cs typeface="Calibri" pitchFamily="34" charset="-120"/>
              </a:rPr>
              <a:t>Error if unknown Patient ID entered</a:t>
            </a:r>
            <a:endParaRPr lang="en-US" sz="1200" b="1" dirty="0"/>
          </a:p>
          <a:p>
            <a:pPr marL="342900" indent="-342900">
              <a:spcAft>
                <a:spcPts val="600"/>
              </a:spcAft>
              <a:buSzPct val="100000"/>
              <a:buChar char="•"/>
            </a:pPr>
            <a:r>
              <a:rPr lang="en-US" sz="1200" b="1" dirty="0">
                <a:solidFill>
                  <a:srgbClr val="F1F5F9"/>
                </a:solidFill>
                <a:latin typeface="Calibri" pitchFamily="34" charset="0"/>
                <a:ea typeface="Calibri" pitchFamily="34" charset="-122"/>
                <a:cs typeface="Calibri" pitchFamily="34" charset="-120"/>
              </a:rPr>
              <a:t>Shows full appointment list after booking</a:t>
            </a:r>
            <a:endParaRPr lang="en-US" sz="1200" b="1" dirty="0"/>
          </a:p>
        </p:txBody>
      </p:sp>
      <p:sp>
        <p:nvSpPr>
          <p:cNvPr id="9" name="Shape 6"/>
          <p:cNvSpPr/>
          <p:nvPr/>
        </p:nvSpPr>
        <p:spPr>
          <a:xfrm>
            <a:off x="365760" y="4133088"/>
            <a:ext cx="8412480" cy="777240"/>
          </a:xfrm>
          <a:prstGeom prst="rect">
            <a:avLst/>
          </a:prstGeom>
          <a:solidFill>
            <a:srgbClr val="1A2E5A"/>
          </a:solidFill>
          <a:ln w="12700">
            <a:solidFill>
              <a:srgbClr val="2563EB"/>
            </a:solidFill>
            <a:prstDash val="solid"/>
          </a:ln>
        </p:spPr>
      </p:sp>
      <p:sp>
        <p:nvSpPr>
          <p:cNvPr id="10" name="Text 7"/>
          <p:cNvSpPr/>
          <p:nvPr/>
        </p:nvSpPr>
        <p:spPr>
          <a:xfrm>
            <a:off x="502920" y="4187952"/>
            <a:ext cx="8229600" cy="658368"/>
          </a:xfrm>
          <a:prstGeom prst="rect">
            <a:avLst/>
          </a:prstGeom>
          <a:noFill/>
          <a:ln/>
        </p:spPr>
        <p:txBody>
          <a:bodyPr wrap="square" rtlCol="0" anchor="ctr"/>
          <a:lstStyle/>
          <a:p>
            <a:pPr marL="0" indent="0">
              <a:buNone/>
            </a:pPr>
            <a:r>
              <a:rPr lang="en-US" sz="1600" b="1" dirty="0">
                <a:solidFill>
                  <a:srgbClr val="F1F5F9"/>
                </a:solidFill>
                <a:latin typeface="Calibri" pitchFamily="34" charset="0"/>
                <a:ea typeface="Calibri" pitchFamily="34" charset="-122"/>
                <a:cs typeface="Calibri" pitchFamily="34" charset="-120"/>
              </a:rPr>
              <a:t>Like booking a playdate with the doctor! You say when you want to come, which department, and why. The system remembers everything and shows all upcoming appointments.</a:t>
            </a:r>
            <a:endParaRPr lang="en-US" sz="1600" b="1" dirty="0"/>
          </a:p>
        </p:txBody>
      </p:sp>
      <p:sp>
        <p:nvSpPr>
          <p:cNvPr id="11" name="TextBox 10">
            <a:extLst>
              <a:ext uri="{FF2B5EF4-FFF2-40B4-BE49-F238E27FC236}">
                <a16:creationId xmlns:a16="http://schemas.microsoft.com/office/drawing/2014/main" id="{DCB50C1B-728F-C276-BD87-B1FAAD70D4C5}"/>
              </a:ext>
            </a:extLst>
          </p:cNvPr>
          <p:cNvSpPr txBox="1"/>
          <p:nvPr/>
        </p:nvSpPr>
        <p:spPr>
          <a:xfrm>
            <a:off x="8763000" y="4838700"/>
            <a:ext cx="146304" cy="369332"/>
          </a:xfrm>
          <a:prstGeom prst="rect">
            <a:avLst/>
          </a:prstGeom>
          <a:noFill/>
        </p:spPr>
        <p:txBody>
          <a:bodyPr wrap="square" rtlCol="0">
            <a:spAutoFit/>
          </a:bodyPr>
          <a:lstStyle/>
          <a:p>
            <a:r>
              <a:rPr lang="en-GB" b="1" dirty="0">
                <a:solidFill>
                  <a:schemeClr val="bg1"/>
                </a:solidFill>
              </a:rPr>
              <a:t>9</a:t>
            </a:r>
            <a:endParaRPr lang="en-US" b="1"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366"/>
          </a:solidFill>
          <a:ln w="12700">
            <a:solidFill>
              <a:srgbClr val="003366"/>
            </a:solidFill>
            <a:prstDash val="solid"/>
          </a:ln>
        </p:spPr>
      </p:sp>
      <p:sp>
        <p:nvSpPr>
          <p:cNvPr id="3" name="Text 1"/>
          <p:cNvSpPr/>
          <p:nvPr/>
        </p:nvSpPr>
        <p:spPr>
          <a:xfrm>
            <a:off x="320040" y="0"/>
            <a:ext cx="8503920" cy="804672"/>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Tab 4: Prescriptions</a:t>
            </a:r>
            <a:endParaRPr lang="en-US" sz="2400" dirty="0"/>
          </a:p>
        </p:txBody>
      </p:sp>
      <p:sp>
        <p:nvSpPr>
          <p:cNvPr id="4" name="Text 2"/>
          <p:cNvSpPr/>
          <p:nvPr/>
        </p:nvSpPr>
        <p:spPr>
          <a:xfrm>
            <a:off x="320040" y="822960"/>
            <a:ext cx="8503920" cy="256032"/>
          </a:xfrm>
          <a:prstGeom prst="rect">
            <a:avLst/>
          </a:prstGeom>
          <a:noFill/>
          <a:ln/>
        </p:spPr>
        <p:txBody>
          <a:bodyPr wrap="square" rtlCol="0" anchor="ctr"/>
          <a:lstStyle/>
          <a:p>
            <a:pPr marL="0" indent="0">
              <a:buNone/>
            </a:pPr>
            <a:r>
              <a:rPr lang="en-US" b="1" dirty="0">
                <a:solidFill>
                  <a:srgbClr val="14B8A6"/>
                </a:solidFill>
                <a:latin typeface="Calibri" pitchFamily="34" charset="0"/>
                <a:ea typeface="Calibri" pitchFamily="34" charset="-122"/>
                <a:cs typeface="Calibri" pitchFamily="34" charset="-120"/>
              </a:rPr>
              <a:t>Issue and track medication prescriptions with automatic date-stamping</a:t>
            </a:r>
            <a:endParaRPr lang="en-US" b="1" dirty="0"/>
          </a:p>
        </p:txBody>
      </p:sp>
      <p:pic>
        <p:nvPicPr>
          <p:cNvPr id="5" name="Image 0" descr="preencoded.png"/>
          <p:cNvPicPr>
            <a:picLocks noChangeAspect="1"/>
          </p:cNvPicPr>
          <p:nvPr/>
        </p:nvPicPr>
        <p:blipFill>
          <a:blip r:embed="rId3"/>
          <a:stretch>
            <a:fillRect/>
          </a:stretch>
        </p:blipFill>
        <p:spPr>
          <a:xfrm>
            <a:off x="365760" y="1077468"/>
            <a:ext cx="5486400" cy="3063240"/>
          </a:xfrm>
          <a:prstGeom prst="rect">
            <a:avLst/>
          </a:prstGeom>
        </p:spPr>
      </p:pic>
      <p:sp>
        <p:nvSpPr>
          <p:cNvPr id="6" name="Shape 3"/>
          <p:cNvSpPr/>
          <p:nvPr/>
        </p:nvSpPr>
        <p:spPr>
          <a:xfrm>
            <a:off x="6035040" y="1077468"/>
            <a:ext cx="2743200" cy="3063240"/>
          </a:xfrm>
          <a:prstGeom prst="rect">
            <a:avLst/>
          </a:prstGeom>
          <a:solidFill>
            <a:srgbClr val="1A2E5A"/>
          </a:solidFill>
          <a:ln w="15240">
            <a:solidFill>
              <a:srgbClr val="DC2626"/>
            </a:solidFill>
            <a:prstDash val="solid"/>
          </a:ln>
        </p:spPr>
      </p:sp>
      <p:sp>
        <p:nvSpPr>
          <p:cNvPr id="7" name="Text 4"/>
          <p:cNvSpPr/>
          <p:nvPr/>
        </p:nvSpPr>
        <p:spPr>
          <a:xfrm>
            <a:off x="6172200" y="1168908"/>
            <a:ext cx="2468880" cy="256032"/>
          </a:xfrm>
          <a:prstGeom prst="rect">
            <a:avLst/>
          </a:prstGeom>
          <a:noFill/>
          <a:ln/>
        </p:spPr>
        <p:txBody>
          <a:bodyPr wrap="square" lIns="0" tIns="0" rIns="0" bIns="0" rtlCol="0" anchor="ctr"/>
          <a:lstStyle/>
          <a:p>
            <a:pPr marL="0" indent="0">
              <a:buNone/>
            </a:pPr>
            <a:r>
              <a:rPr lang="en-US" b="1" dirty="0">
                <a:solidFill>
                  <a:srgbClr val="DC2626"/>
                </a:solidFill>
                <a:latin typeface="Calibri" pitchFamily="34" charset="0"/>
                <a:ea typeface="Calibri" pitchFamily="34" charset="-122"/>
                <a:cs typeface="Calibri" pitchFamily="34" charset="-120"/>
              </a:rPr>
              <a:t>FEATURES</a:t>
            </a:r>
            <a:endParaRPr lang="en-US" dirty="0"/>
          </a:p>
        </p:txBody>
      </p:sp>
      <p:sp>
        <p:nvSpPr>
          <p:cNvPr id="8" name="Text 5"/>
          <p:cNvSpPr/>
          <p:nvPr/>
        </p:nvSpPr>
        <p:spPr>
          <a:xfrm>
            <a:off x="6144768" y="1470660"/>
            <a:ext cx="2468880" cy="2487168"/>
          </a:xfrm>
          <a:prstGeom prst="rect">
            <a:avLst/>
          </a:prstGeom>
          <a:noFill/>
          <a:ln/>
        </p:spPr>
        <p:txBody>
          <a:bodyPr wrap="square" rtlCol="0" anchor="t"/>
          <a:lstStyle/>
          <a:p>
            <a:pPr marL="342900" indent="-342900">
              <a:spcAft>
                <a:spcPts val="800"/>
              </a:spcAft>
              <a:buSzPct val="100000"/>
              <a:buChar char="•"/>
            </a:pPr>
            <a:r>
              <a:rPr lang="en-US" sz="1200" b="1" dirty="0">
                <a:solidFill>
                  <a:srgbClr val="F1F5F9"/>
                </a:solidFill>
                <a:latin typeface="Calibri" pitchFamily="34" charset="0"/>
                <a:ea typeface="Calibri" pitchFamily="34" charset="-122"/>
                <a:cs typeface="Calibri" pitchFamily="34" charset="-120"/>
              </a:rPr>
              <a:t>Patient ID validation before issuing</a:t>
            </a:r>
            <a:endParaRPr lang="en-US" sz="1200" b="1" dirty="0"/>
          </a:p>
          <a:p>
            <a:pPr marL="342900" indent="-342900">
              <a:spcAft>
                <a:spcPts val="800"/>
              </a:spcAft>
              <a:buSzPct val="100000"/>
              <a:buChar char="•"/>
            </a:pPr>
            <a:r>
              <a:rPr lang="en-US" sz="1200" b="1" dirty="0">
                <a:solidFill>
                  <a:srgbClr val="F1F5F9"/>
                </a:solidFill>
                <a:latin typeface="Calibri" pitchFamily="34" charset="0"/>
                <a:ea typeface="Calibri" pitchFamily="34" charset="-122"/>
                <a:cs typeface="Calibri" pitchFamily="34" charset="-120"/>
              </a:rPr>
              <a:t>Medication name, dosage, duration fields</a:t>
            </a:r>
            <a:endParaRPr lang="en-US" sz="1200" b="1" dirty="0"/>
          </a:p>
          <a:p>
            <a:pPr marL="342900" indent="-342900">
              <a:spcAft>
                <a:spcPts val="800"/>
              </a:spcAft>
              <a:buSzPct val="100000"/>
              <a:buChar char="•"/>
            </a:pPr>
            <a:r>
              <a:rPr lang="en-US" sz="1200" b="1" dirty="0">
                <a:solidFill>
                  <a:srgbClr val="F1F5F9"/>
                </a:solidFill>
                <a:latin typeface="Calibri" pitchFamily="34" charset="0"/>
                <a:ea typeface="Calibri" pitchFamily="34" charset="-122"/>
                <a:cs typeface="Calibri" pitchFamily="34" charset="-120"/>
              </a:rPr>
              <a:t>Issuing doctor name recorded</a:t>
            </a:r>
            <a:endParaRPr lang="en-US" sz="1200" b="1" dirty="0"/>
          </a:p>
          <a:p>
            <a:pPr marL="342900" indent="-342900">
              <a:spcAft>
                <a:spcPts val="800"/>
              </a:spcAft>
              <a:buSzPct val="100000"/>
              <a:buChar char="•"/>
            </a:pPr>
            <a:r>
              <a:rPr lang="en-US" sz="1200" b="1" dirty="0">
                <a:solidFill>
                  <a:srgbClr val="F1F5F9"/>
                </a:solidFill>
                <a:latin typeface="Calibri" pitchFamily="34" charset="0"/>
                <a:ea typeface="Calibri" pitchFamily="34" charset="-122"/>
                <a:cs typeface="Calibri" pitchFamily="34" charset="-120"/>
              </a:rPr>
              <a:t>Auto date-stamp: datetime.now()</a:t>
            </a:r>
            <a:endParaRPr lang="en-US" sz="1200" b="1" dirty="0"/>
          </a:p>
          <a:p>
            <a:pPr marL="342900" indent="-342900">
              <a:spcAft>
                <a:spcPts val="800"/>
              </a:spcAft>
              <a:buSzPct val="100000"/>
              <a:buChar char="•"/>
            </a:pPr>
            <a:r>
              <a:rPr lang="en-US" sz="1200" b="1" dirty="0">
                <a:solidFill>
                  <a:srgbClr val="F1F5F9"/>
                </a:solidFill>
                <a:latin typeface="Calibri" pitchFamily="34" charset="0"/>
                <a:ea typeface="Calibri" pitchFamily="34" charset="-122"/>
                <a:cs typeface="Calibri" pitchFamily="34" charset="-120"/>
              </a:rPr>
              <a:t>Prescription history always visible below</a:t>
            </a:r>
            <a:endParaRPr lang="en-US" sz="1200" b="1" dirty="0"/>
          </a:p>
          <a:p>
            <a:pPr marL="342900" indent="-342900">
              <a:spcAft>
                <a:spcPts val="800"/>
              </a:spcAft>
              <a:buSzPct val="100000"/>
              <a:buChar char="•"/>
            </a:pPr>
            <a:r>
              <a:rPr lang="en-US" sz="1200" b="1" dirty="0">
                <a:solidFill>
                  <a:srgbClr val="F1F5F9"/>
                </a:solidFill>
                <a:latin typeface="Calibri" pitchFamily="34" charset="0"/>
                <a:ea typeface="Calibri" pitchFamily="34" charset="-122"/>
                <a:cs typeface="Calibri" pitchFamily="34" charset="-120"/>
              </a:rPr>
              <a:t>Error message if Patient ID not found</a:t>
            </a:r>
            <a:endParaRPr lang="en-US" sz="1200" b="1" dirty="0"/>
          </a:p>
        </p:txBody>
      </p:sp>
      <p:sp>
        <p:nvSpPr>
          <p:cNvPr id="9" name="Shape 6"/>
          <p:cNvSpPr/>
          <p:nvPr/>
        </p:nvSpPr>
        <p:spPr>
          <a:xfrm>
            <a:off x="365760" y="4133088"/>
            <a:ext cx="8412480" cy="777240"/>
          </a:xfrm>
          <a:prstGeom prst="rect">
            <a:avLst/>
          </a:prstGeom>
          <a:solidFill>
            <a:srgbClr val="1A2E5A"/>
          </a:solidFill>
          <a:ln w="12700">
            <a:solidFill>
              <a:srgbClr val="DC2626"/>
            </a:solidFill>
            <a:prstDash val="solid"/>
          </a:ln>
        </p:spPr>
      </p:sp>
      <p:sp>
        <p:nvSpPr>
          <p:cNvPr id="10" name="Text 7"/>
          <p:cNvSpPr/>
          <p:nvPr/>
        </p:nvSpPr>
        <p:spPr>
          <a:xfrm>
            <a:off x="502920" y="4187952"/>
            <a:ext cx="8229600" cy="658368"/>
          </a:xfrm>
          <a:prstGeom prst="rect">
            <a:avLst/>
          </a:prstGeom>
          <a:noFill/>
          <a:ln/>
        </p:spPr>
        <p:txBody>
          <a:bodyPr wrap="square" rtlCol="0" anchor="ctr"/>
          <a:lstStyle/>
          <a:p>
            <a:pPr marL="0" indent="0">
              <a:buNone/>
            </a:pPr>
            <a:r>
              <a:rPr lang="en-US" sz="1600" b="1" dirty="0">
                <a:solidFill>
                  <a:srgbClr val="F1F5F9"/>
                </a:solidFill>
                <a:latin typeface="Calibri" pitchFamily="34" charset="0"/>
                <a:ea typeface="Calibri" pitchFamily="34" charset="-122"/>
                <a:cs typeface="Calibri" pitchFamily="34" charset="-120"/>
              </a:rPr>
              <a:t>The doctor's written note about your medicine — now stored safely in the computer! Like a receipt from the pharmacy, but the computer keeps it forever so no one forgets.</a:t>
            </a:r>
            <a:endParaRPr lang="en-US" sz="1600" b="1" dirty="0"/>
          </a:p>
        </p:txBody>
      </p:sp>
      <p:sp>
        <p:nvSpPr>
          <p:cNvPr id="11" name="TextBox 10">
            <a:extLst>
              <a:ext uri="{FF2B5EF4-FFF2-40B4-BE49-F238E27FC236}">
                <a16:creationId xmlns:a16="http://schemas.microsoft.com/office/drawing/2014/main" id="{E32E74EA-D51C-A8A4-5B4F-C264714DFABC}"/>
              </a:ext>
            </a:extLst>
          </p:cNvPr>
          <p:cNvSpPr txBox="1"/>
          <p:nvPr/>
        </p:nvSpPr>
        <p:spPr>
          <a:xfrm>
            <a:off x="8458200" y="4838700"/>
            <a:ext cx="451104" cy="369332"/>
          </a:xfrm>
          <a:prstGeom prst="rect">
            <a:avLst/>
          </a:prstGeom>
          <a:noFill/>
        </p:spPr>
        <p:txBody>
          <a:bodyPr wrap="square" rtlCol="0">
            <a:spAutoFit/>
          </a:bodyPr>
          <a:lstStyle/>
          <a:p>
            <a:r>
              <a:rPr lang="en-GB" b="1" dirty="0">
                <a:solidFill>
                  <a:schemeClr val="bg1"/>
                </a:solidFill>
              </a:rPr>
              <a:t>10</a:t>
            </a:r>
            <a:endParaRPr lang="en-US" b="1" dirty="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366"/>
          </a:solidFill>
          <a:ln w="12700">
            <a:solidFill>
              <a:srgbClr val="003366"/>
            </a:solidFill>
            <a:prstDash val="solid"/>
          </a:ln>
        </p:spPr>
      </p:sp>
      <p:sp>
        <p:nvSpPr>
          <p:cNvPr id="3" name="Text 1"/>
          <p:cNvSpPr/>
          <p:nvPr/>
        </p:nvSpPr>
        <p:spPr>
          <a:xfrm>
            <a:off x="320040" y="0"/>
            <a:ext cx="8503920" cy="804672"/>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Code Analysis: Key Functions &amp; Data Structures</a:t>
            </a:r>
            <a:endParaRPr lang="en-US" sz="2400" dirty="0"/>
          </a:p>
        </p:txBody>
      </p:sp>
      <p:sp>
        <p:nvSpPr>
          <p:cNvPr id="4" name="Text 2"/>
          <p:cNvSpPr/>
          <p:nvPr/>
        </p:nvSpPr>
        <p:spPr>
          <a:xfrm>
            <a:off x="320040" y="822960"/>
            <a:ext cx="8503920" cy="256032"/>
          </a:xfrm>
          <a:prstGeom prst="rect">
            <a:avLst/>
          </a:prstGeom>
          <a:noFill/>
          <a:ln/>
        </p:spPr>
        <p:txBody>
          <a:bodyPr wrap="square" rtlCol="0" anchor="ctr"/>
          <a:lstStyle/>
          <a:p>
            <a:pPr marL="0" indent="0">
              <a:buNone/>
            </a:pPr>
            <a:r>
              <a:rPr lang="en-US" sz="1600" b="1" dirty="0">
                <a:solidFill>
                  <a:srgbClr val="14B8A6"/>
                </a:solidFill>
                <a:latin typeface="Calibri" pitchFamily="34" charset="0"/>
                <a:ea typeface="Calibri" pitchFamily="34" charset="-122"/>
                <a:cs typeface="Calibri" pitchFamily="34" charset="-120"/>
              </a:rPr>
              <a:t>Python 3 — ~350 lines, modular architecture, no external dependencies beyond ipywidgets</a:t>
            </a:r>
            <a:endParaRPr lang="en-US" sz="1600" b="1" dirty="0"/>
          </a:p>
        </p:txBody>
      </p:sp>
      <p:sp>
        <p:nvSpPr>
          <p:cNvPr id="5" name="Shape 3"/>
          <p:cNvSpPr/>
          <p:nvPr/>
        </p:nvSpPr>
        <p:spPr>
          <a:xfrm>
            <a:off x="365760" y="1097280"/>
            <a:ext cx="4206240" cy="804672"/>
          </a:xfrm>
          <a:prstGeom prst="rect">
            <a:avLst/>
          </a:prstGeom>
          <a:solidFill>
            <a:srgbClr val="1A2E5A"/>
          </a:solidFill>
          <a:ln w="12700">
            <a:solidFill>
              <a:srgbClr val="0D9488"/>
            </a:solidFill>
            <a:prstDash val="solid"/>
          </a:ln>
        </p:spPr>
      </p:sp>
      <p:sp>
        <p:nvSpPr>
          <p:cNvPr id="6" name="Text 4"/>
          <p:cNvSpPr/>
          <p:nvPr/>
        </p:nvSpPr>
        <p:spPr>
          <a:xfrm>
            <a:off x="457200" y="1161288"/>
            <a:ext cx="4023360" cy="237744"/>
          </a:xfrm>
          <a:prstGeom prst="rect">
            <a:avLst/>
          </a:prstGeom>
          <a:noFill/>
          <a:ln/>
        </p:spPr>
        <p:txBody>
          <a:bodyPr wrap="square" lIns="0" tIns="0" rIns="0" bIns="0" rtlCol="0" anchor="ctr"/>
          <a:lstStyle/>
          <a:p>
            <a:pPr marL="0" indent="0">
              <a:buNone/>
            </a:pPr>
            <a:r>
              <a:rPr lang="en-US" sz="1400" b="1" dirty="0">
                <a:solidFill>
                  <a:srgbClr val="0D9488"/>
                </a:solidFill>
                <a:latin typeface="Courier New" pitchFamily="34" charset="0"/>
                <a:ea typeface="Courier New" pitchFamily="34" charset="-122"/>
                <a:cs typeface="Courier New" pitchFamily="34" charset="-120"/>
              </a:rPr>
              <a:t>generate_patient_id()</a:t>
            </a:r>
            <a:endParaRPr lang="en-US" sz="1400" dirty="0"/>
          </a:p>
        </p:txBody>
      </p:sp>
      <p:sp>
        <p:nvSpPr>
          <p:cNvPr id="7" name="Text 5"/>
          <p:cNvSpPr/>
          <p:nvPr/>
        </p:nvSpPr>
        <p:spPr>
          <a:xfrm>
            <a:off x="457200" y="1426464"/>
            <a:ext cx="4023360" cy="384048"/>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Returns LUTH-2025-XXX format using len(patients)+1 with zero-pad</a:t>
            </a:r>
            <a:endParaRPr lang="en-US" sz="1200" b="1" dirty="0"/>
          </a:p>
        </p:txBody>
      </p:sp>
      <p:sp>
        <p:nvSpPr>
          <p:cNvPr id="8" name="Shape 6"/>
          <p:cNvSpPr/>
          <p:nvPr/>
        </p:nvSpPr>
        <p:spPr>
          <a:xfrm>
            <a:off x="365760" y="2039112"/>
            <a:ext cx="4206240" cy="804672"/>
          </a:xfrm>
          <a:prstGeom prst="rect">
            <a:avLst/>
          </a:prstGeom>
          <a:solidFill>
            <a:srgbClr val="1A2E5A"/>
          </a:solidFill>
          <a:ln w="12700">
            <a:solidFill>
              <a:srgbClr val="14B8A6"/>
            </a:solidFill>
            <a:prstDash val="solid"/>
          </a:ln>
        </p:spPr>
      </p:sp>
      <p:sp>
        <p:nvSpPr>
          <p:cNvPr id="9" name="Text 7"/>
          <p:cNvSpPr/>
          <p:nvPr/>
        </p:nvSpPr>
        <p:spPr>
          <a:xfrm>
            <a:off x="457200" y="2103120"/>
            <a:ext cx="4023360" cy="237744"/>
          </a:xfrm>
          <a:prstGeom prst="rect">
            <a:avLst/>
          </a:prstGeom>
          <a:noFill/>
          <a:ln/>
        </p:spPr>
        <p:txBody>
          <a:bodyPr wrap="square" lIns="0" tIns="0" rIns="0" bIns="0" rtlCol="0" anchor="ctr"/>
          <a:lstStyle/>
          <a:p>
            <a:pPr marL="0" indent="0">
              <a:buNone/>
            </a:pPr>
            <a:r>
              <a:rPr lang="en-US" sz="1400" b="1" dirty="0">
                <a:solidFill>
                  <a:srgbClr val="14B8A6"/>
                </a:solidFill>
                <a:latin typeface="Courier New" pitchFamily="34" charset="0"/>
                <a:ea typeface="Courier New" pitchFamily="34" charset="-122"/>
                <a:cs typeface="Courier New" pitchFamily="34" charset="-120"/>
              </a:rPr>
              <a:t>find_patient(id)</a:t>
            </a:r>
            <a:endParaRPr lang="en-US" sz="1400" dirty="0"/>
          </a:p>
        </p:txBody>
      </p:sp>
      <p:sp>
        <p:nvSpPr>
          <p:cNvPr id="10" name="Text 8"/>
          <p:cNvSpPr/>
          <p:nvPr/>
        </p:nvSpPr>
        <p:spPr>
          <a:xfrm>
            <a:off x="457200" y="2368296"/>
            <a:ext cx="4023360" cy="384048"/>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Iterates patients list; returns dict if id matches, else None</a:t>
            </a:r>
            <a:endParaRPr lang="en-US" sz="1200" b="1" dirty="0"/>
          </a:p>
        </p:txBody>
      </p:sp>
      <p:sp>
        <p:nvSpPr>
          <p:cNvPr id="11" name="Shape 9"/>
          <p:cNvSpPr/>
          <p:nvPr/>
        </p:nvSpPr>
        <p:spPr>
          <a:xfrm>
            <a:off x="365760" y="2980944"/>
            <a:ext cx="4206240" cy="804672"/>
          </a:xfrm>
          <a:prstGeom prst="rect">
            <a:avLst/>
          </a:prstGeom>
          <a:solidFill>
            <a:srgbClr val="1A2E5A"/>
          </a:solidFill>
          <a:ln w="12700">
            <a:solidFill>
              <a:srgbClr val="1D6FA4"/>
            </a:solidFill>
            <a:prstDash val="solid"/>
          </a:ln>
        </p:spPr>
      </p:sp>
      <p:sp>
        <p:nvSpPr>
          <p:cNvPr id="12" name="Text 10"/>
          <p:cNvSpPr/>
          <p:nvPr/>
        </p:nvSpPr>
        <p:spPr>
          <a:xfrm>
            <a:off x="457200" y="3044952"/>
            <a:ext cx="4023360" cy="237744"/>
          </a:xfrm>
          <a:prstGeom prst="rect">
            <a:avLst/>
          </a:prstGeom>
          <a:noFill/>
          <a:ln/>
        </p:spPr>
        <p:txBody>
          <a:bodyPr wrap="square" lIns="0" tIns="0" rIns="0" bIns="0" rtlCol="0" anchor="ctr"/>
          <a:lstStyle/>
          <a:p>
            <a:pPr marL="0" indent="0">
              <a:buNone/>
            </a:pPr>
            <a:r>
              <a:rPr lang="en-US" sz="1400" b="1" dirty="0">
                <a:solidFill>
                  <a:srgbClr val="1D6FA4"/>
                </a:solidFill>
                <a:latin typeface="Courier New" pitchFamily="34" charset="0"/>
                <a:ea typeface="Courier New" pitchFamily="34" charset="-122"/>
                <a:cs typeface="Courier New" pitchFamily="34" charset="-120"/>
              </a:rPr>
              <a:t>create_register_tab()</a:t>
            </a:r>
            <a:endParaRPr lang="en-US" sz="1400" dirty="0"/>
          </a:p>
        </p:txBody>
      </p:sp>
      <p:sp>
        <p:nvSpPr>
          <p:cNvPr id="13" name="Text 11"/>
          <p:cNvSpPr/>
          <p:nvPr/>
        </p:nvSpPr>
        <p:spPr>
          <a:xfrm>
            <a:off x="457200" y="3310128"/>
            <a:ext cx="4023360" cy="384048"/>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Builds Tab 1: 6 input widgets + Button + Output. Binds register_patient callback</a:t>
            </a:r>
            <a:endParaRPr lang="en-US" sz="1200" b="1" dirty="0"/>
          </a:p>
        </p:txBody>
      </p:sp>
      <p:sp>
        <p:nvSpPr>
          <p:cNvPr id="14" name="Shape 12"/>
          <p:cNvSpPr/>
          <p:nvPr/>
        </p:nvSpPr>
        <p:spPr>
          <a:xfrm>
            <a:off x="365760" y="3922776"/>
            <a:ext cx="4206240" cy="804672"/>
          </a:xfrm>
          <a:prstGeom prst="rect">
            <a:avLst/>
          </a:prstGeom>
          <a:solidFill>
            <a:srgbClr val="1A2E5A"/>
          </a:solidFill>
          <a:ln w="12700">
            <a:solidFill>
              <a:srgbClr val="D97706"/>
            </a:solidFill>
            <a:prstDash val="solid"/>
          </a:ln>
        </p:spPr>
      </p:sp>
      <p:sp>
        <p:nvSpPr>
          <p:cNvPr id="15" name="Text 13"/>
          <p:cNvSpPr/>
          <p:nvPr/>
        </p:nvSpPr>
        <p:spPr>
          <a:xfrm>
            <a:off x="457200" y="3986784"/>
            <a:ext cx="4023360" cy="237744"/>
          </a:xfrm>
          <a:prstGeom prst="rect">
            <a:avLst/>
          </a:prstGeom>
          <a:noFill/>
          <a:ln/>
        </p:spPr>
        <p:txBody>
          <a:bodyPr wrap="square" lIns="0" tIns="0" rIns="0" bIns="0" rtlCol="0" anchor="ctr"/>
          <a:lstStyle/>
          <a:p>
            <a:pPr marL="0" indent="0">
              <a:buNone/>
            </a:pPr>
            <a:r>
              <a:rPr lang="en-US" sz="1400" b="1" dirty="0">
                <a:solidFill>
                  <a:srgbClr val="D97706"/>
                </a:solidFill>
                <a:latin typeface="Courier New" pitchFamily="34" charset="0"/>
                <a:ea typeface="Courier New" pitchFamily="34" charset="-122"/>
                <a:cs typeface="Courier New" pitchFamily="34" charset="-120"/>
              </a:rPr>
              <a:t>create_records_tab()</a:t>
            </a:r>
            <a:endParaRPr lang="en-US" sz="1400" dirty="0"/>
          </a:p>
        </p:txBody>
      </p:sp>
      <p:sp>
        <p:nvSpPr>
          <p:cNvPr id="16" name="Text 14"/>
          <p:cNvSpPr/>
          <p:nvPr/>
        </p:nvSpPr>
        <p:spPr>
          <a:xfrm>
            <a:off x="457200" y="4251960"/>
            <a:ext cx="4023360" cy="384048"/>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Builds Tab 2: search box, 2 buttons, Output. Case-insensitive name/ID filter</a:t>
            </a:r>
            <a:endParaRPr lang="en-US" sz="1200" b="1" dirty="0"/>
          </a:p>
        </p:txBody>
      </p:sp>
      <p:sp>
        <p:nvSpPr>
          <p:cNvPr id="17" name="Shape 15"/>
          <p:cNvSpPr/>
          <p:nvPr/>
        </p:nvSpPr>
        <p:spPr>
          <a:xfrm>
            <a:off x="4754880" y="1097280"/>
            <a:ext cx="4206240" cy="804672"/>
          </a:xfrm>
          <a:prstGeom prst="rect">
            <a:avLst/>
          </a:prstGeom>
          <a:solidFill>
            <a:srgbClr val="1A2E5A"/>
          </a:solidFill>
          <a:ln w="12700">
            <a:solidFill>
              <a:srgbClr val="D97706"/>
            </a:solidFill>
            <a:prstDash val="solid"/>
          </a:ln>
        </p:spPr>
      </p:sp>
      <p:sp>
        <p:nvSpPr>
          <p:cNvPr id="18" name="Text 16"/>
          <p:cNvSpPr/>
          <p:nvPr/>
        </p:nvSpPr>
        <p:spPr>
          <a:xfrm>
            <a:off x="4846320" y="1161288"/>
            <a:ext cx="4023360" cy="237744"/>
          </a:xfrm>
          <a:prstGeom prst="rect">
            <a:avLst/>
          </a:prstGeom>
          <a:noFill/>
          <a:ln/>
        </p:spPr>
        <p:txBody>
          <a:bodyPr wrap="square" lIns="0" tIns="0" rIns="0" bIns="0" rtlCol="0" anchor="ctr"/>
          <a:lstStyle/>
          <a:p>
            <a:pPr marL="0" indent="0">
              <a:buNone/>
            </a:pPr>
            <a:r>
              <a:rPr lang="en-US" sz="1400" b="1" dirty="0">
                <a:solidFill>
                  <a:srgbClr val="D97706"/>
                </a:solidFill>
                <a:latin typeface="Courier New" pitchFamily="34" charset="0"/>
                <a:ea typeface="Courier New" pitchFamily="34" charset="-122"/>
                <a:cs typeface="Courier New" pitchFamily="34" charset="-120"/>
              </a:rPr>
              <a:t>create_appointments_tab()</a:t>
            </a:r>
            <a:endParaRPr lang="en-US" sz="1400" dirty="0"/>
          </a:p>
        </p:txBody>
      </p:sp>
      <p:sp>
        <p:nvSpPr>
          <p:cNvPr id="19" name="Text 17"/>
          <p:cNvSpPr/>
          <p:nvPr/>
        </p:nvSpPr>
        <p:spPr>
          <a:xfrm>
            <a:off x="4846320" y="1426464"/>
            <a:ext cx="4023360" cy="384048"/>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Builds Tab 3: 6 inputs + 2 buttons. Calls find_patient() before booking</a:t>
            </a:r>
            <a:endParaRPr lang="en-US" sz="1200" b="1" dirty="0"/>
          </a:p>
        </p:txBody>
      </p:sp>
      <p:sp>
        <p:nvSpPr>
          <p:cNvPr id="20" name="Shape 18"/>
          <p:cNvSpPr/>
          <p:nvPr/>
        </p:nvSpPr>
        <p:spPr>
          <a:xfrm>
            <a:off x="4754880" y="2039112"/>
            <a:ext cx="4206240" cy="804672"/>
          </a:xfrm>
          <a:prstGeom prst="rect">
            <a:avLst/>
          </a:prstGeom>
          <a:solidFill>
            <a:srgbClr val="1A2E5A"/>
          </a:solidFill>
          <a:ln w="12700">
            <a:solidFill>
              <a:srgbClr val="DC2626"/>
            </a:solidFill>
            <a:prstDash val="solid"/>
          </a:ln>
        </p:spPr>
      </p:sp>
      <p:sp>
        <p:nvSpPr>
          <p:cNvPr id="21" name="Text 19"/>
          <p:cNvSpPr/>
          <p:nvPr/>
        </p:nvSpPr>
        <p:spPr>
          <a:xfrm>
            <a:off x="4846320" y="2103120"/>
            <a:ext cx="4023360" cy="237744"/>
          </a:xfrm>
          <a:prstGeom prst="rect">
            <a:avLst/>
          </a:prstGeom>
          <a:noFill/>
          <a:ln/>
        </p:spPr>
        <p:txBody>
          <a:bodyPr wrap="square" lIns="0" tIns="0" rIns="0" bIns="0" rtlCol="0" anchor="ctr"/>
          <a:lstStyle/>
          <a:p>
            <a:pPr marL="0" indent="0">
              <a:buNone/>
            </a:pPr>
            <a:r>
              <a:rPr lang="en-US" sz="1400" b="1" dirty="0">
                <a:solidFill>
                  <a:srgbClr val="DC2626"/>
                </a:solidFill>
                <a:latin typeface="Courier New" pitchFamily="34" charset="0"/>
                <a:ea typeface="Courier New" pitchFamily="34" charset="-122"/>
                <a:cs typeface="Courier New" pitchFamily="34" charset="-120"/>
              </a:rPr>
              <a:t>create_prescriptions_tab()</a:t>
            </a:r>
            <a:endParaRPr lang="en-US" sz="1400" dirty="0"/>
          </a:p>
        </p:txBody>
      </p:sp>
      <p:sp>
        <p:nvSpPr>
          <p:cNvPr id="22" name="Text 20"/>
          <p:cNvSpPr/>
          <p:nvPr/>
        </p:nvSpPr>
        <p:spPr>
          <a:xfrm>
            <a:off x="4846320" y="2368296"/>
            <a:ext cx="4023360" cy="384048"/>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Builds Tab 4: 5 inputs. Auto-stamps date via datetime.now()</a:t>
            </a:r>
            <a:endParaRPr lang="en-US" sz="1200" b="1" dirty="0"/>
          </a:p>
        </p:txBody>
      </p:sp>
      <p:sp>
        <p:nvSpPr>
          <p:cNvPr id="23" name="Shape 21"/>
          <p:cNvSpPr/>
          <p:nvPr/>
        </p:nvSpPr>
        <p:spPr>
          <a:xfrm>
            <a:off x="4754880" y="2980944"/>
            <a:ext cx="4206240" cy="804672"/>
          </a:xfrm>
          <a:prstGeom prst="rect">
            <a:avLst/>
          </a:prstGeom>
          <a:solidFill>
            <a:srgbClr val="1A2E5A"/>
          </a:solidFill>
          <a:ln w="12700">
            <a:solidFill>
              <a:srgbClr val="F59E0B"/>
            </a:solidFill>
            <a:prstDash val="solid"/>
          </a:ln>
        </p:spPr>
      </p:sp>
      <p:sp>
        <p:nvSpPr>
          <p:cNvPr id="24" name="Text 22"/>
          <p:cNvSpPr/>
          <p:nvPr/>
        </p:nvSpPr>
        <p:spPr>
          <a:xfrm>
            <a:off x="4846320" y="3044952"/>
            <a:ext cx="4023360" cy="237744"/>
          </a:xfrm>
          <a:prstGeom prst="rect">
            <a:avLst/>
          </a:prstGeom>
          <a:noFill/>
          <a:ln/>
        </p:spPr>
        <p:txBody>
          <a:bodyPr wrap="square" lIns="0" tIns="0" rIns="0" bIns="0" rtlCol="0" anchor="ctr"/>
          <a:lstStyle/>
          <a:p>
            <a:pPr marL="0" indent="0">
              <a:buNone/>
            </a:pPr>
            <a:r>
              <a:rPr lang="en-US" sz="1400" b="1" dirty="0">
                <a:solidFill>
                  <a:srgbClr val="F59E0B"/>
                </a:solidFill>
                <a:latin typeface="Courier New" pitchFamily="34" charset="0"/>
                <a:ea typeface="Courier New" pitchFamily="34" charset="-122"/>
                <a:cs typeface="Courier New" pitchFamily="34" charset="-120"/>
              </a:rPr>
              <a:t>create_app()</a:t>
            </a:r>
            <a:endParaRPr lang="en-US" sz="1400" dirty="0"/>
          </a:p>
        </p:txBody>
      </p:sp>
      <p:sp>
        <p:nvSpPr>
          <p:cNvPr id="25" name="Text 23"/>
          <p:cNvSpPr/>
          <p:nvPr/>
        </p:nvSpPr>
        <p:spPr>
          <a:xfrm>
            <a:off x="4846320" y="3310128"/>
            <a:ext cx="4023360" cy="384048"/>
          </a:xfrm>
          <a:prstGeom prst="rect">
            <a:avLst/>
          </a:prstGeom>
          <a:noFill/>
          <a:ln/>
        </p:spPr>
        <p:txBody>
          <a:bodyPr wrap="square" lIns="0" tIns="0" rIns="0" bIns="0" rtlCol="0" anchor="ctr"/>
          <a:lstStyle/>
          <a:p>
            <a:pPr marL="0" indent="0">
              <a:buNone/>
            </a:pPr>
            <a:r>
              <a:rPr lang="en-US" sz="1200" b="1" dirty="0">
                <a:solidFill>
                  <a:srgbClr val="F1F5F9"/>
                </a:solidFill>
                <a:latin typeface="Calibri" pitchFamily="34" charset="0"/>
                <a:ea typeface="Calibri" pitchFamily="34" charset="-122"/>
                <a:cs typeface="Calibri" pitchFamily="34" charset="-120"/>
              </a:rPr>
              <a:t>Master assembler: HTML header + Tab widget + 4 children + VBox wrapper</a:t>
            </a:r>
            <a:endParaRPr lang="en-US" sz="1200" b="1" dirty="0"/>
          </a:p>
        </p:txBody>
      </p:sp>
      <p:sp>
        <p:nvSpPr>
          <p:cNvPr id="26" name="TextBox 25">
            <a:extLst>
              <a:ext uri="{FF2B5EF4-FFF2-40B4-BE49-F238E27FC236}">
                <a16:creationId xmlns:a16="http://schemas.microsoft.com/office/drawing/2014/main" id="{BB6E3BA6-CFAE-BE71-6EC9-C26E2E84D6AA}"/>
              </a:ext>
            </a:extLst>
          </p:cNvPr>
          <p:cNvSpPr txBox="1"/>
          <p:nvPr/>
        </p:nvSpPr>
        <p:spPr>
          <a:xfrm>
            <a:off x="8458200" y="4838700"/>
            <a:ext cx="451104" cy="369332"/>
          </a:xfrm>
          <a:prstGeom prst="rect">
            <a:avLst/>
          </a:prstGeom>
          <a:noFill/>
        </p:spPr>
        <p:txBody>
          <a:bodyPr wrap="square" rtlCol="0">
            <a:spAutoFit/>
          </a:bodyPr>
          <a:lstStyle/>
          <a:p>
            <a:r>
              <a:rPr lang="en-GB" b="1" dirty="0">
                <a:solidFill>
                  <a:schemeClr val="bg1"/>
                </a:solidFill>
              </a:rPr>
              <a:t>11</a:t>
            </a:r>
            <a:endParaRPr lang="en-US" b="1" dirty="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366"/>
          </a:solidFill>
          <a:ln w="12700">
            <a:solidFill>
              <a:srgbClr val="003366"/>
            </a:solidFill>
            <a:prstDash val="solid"/>
          </a:ln>
        </p:spPr>
      </p:sp>
      <p:sp>
        <p:nvSpPr>
          <p:cNvPr id="3" name="Text 1"/>
          <p:cNvSpPr/>
          <p:nvPr/>
        </p:nvSpPr>
        <p:spPr>
          <a:xfrm>
            <a:off x="320040" y="0"/>
            <a:ext cx="8503920" cy="804672"/>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Testing, Validation &amp; Results</a:t>
            </a:r>
            <a:endParaRPr lang="en-US" sz="2400" dirty="0"/>
          </a:p>
        </p:txBody>
      </p:sp>
      <p:sp>
        <p:nvSpPr>
          <p:cNvPr id="4" name="Text 2"/>
          <p:cNvSpPr/>
          <p:nvPr/>
        </p:nvSpPr>
        <p:spPr>
          <a:xfrm>
            <a:off x="320040" y="822960"/>
            <a:ext cx="8503920" cy="256032"/>
          </a:xfrm>
          <a:prstGeom prst="rect">
            <a:avLst/>
          </a:prstGeom>
          <a:noFill/>
          <a:ln/>
        </p:spPr>
        <p:txBody>
          <a:bodyPr wrap="square" rtlCol="0" anchor="ctr"/>
          <a:lstStyle/>
          <a:p>
            <a:pPr marL="0" indent="0">
              <a:buNone/>
            </a:pPr>
            <a:r>
              <a:rPr lang="en-US" b="1" dirty="0">
                <a:solidFill>
                  <a:srgbClr val="14B8A6"/>
                </a:solidFill>
                <a:latin typeface="Calibri" pitchFamily="34" charset="0"/>
                <a:ea typeface="Calibri" pitchFamily="34" charset="-122"/>
                <a:cs typeface="Calibri" pitchFamily="34" charset="-120"/>
              </a:rPr>
              <a:t>10 test cases — all PASSED</a:t>
            </a:r>
            <a:endParaRPr lang="en-US" b="1" dirty="0"/>
          </a:p>
        </p:txBody>
      </p:sp>
      <p:sp>
        <p:nvSpPr>
          <p:cNvPr id="5" name="Shape 3"/>
          <p:cNvSpPr/>
          <p:nvPr/>
        </p:nvSpPr>
        <p:spPr>
          <a:xfrm>
            <a:off x="320040" y="1078992"/>
            <a:ext cx="4206240" cy="640080"/>
          </a:xfrm>
          <a:prstGeom prst="rect">
            <a:avLst/>
          </a:prstGeom>
          <a:solidFill>
            <a:srgbClr val="1A2E5A"/>
          </a:solidFill>
          <a:ln w="12700">
            <a:solidFill>
              <a:srgbClr val="16A34A"/>
            </a:solidFill>
            <a:prstDash val="solid"/>
          </a:ln>
        </p:spPr>
      </p:sp>
      <p:sp>
        <p:nvSpPr>
          <p:cNvPr id="6" name="Text 4"/>
          <p:cNvSpPr/>
          <p:nvPr/>
        </p:nvSpPr>
        <p:spPr>
          <a:xfrm>
            <a:off x="411480" y="1143000"/>
            <a:ext cx="3291840" cy="219456"/>
          </a:xfrm>
          <a:prstGeom prst="rect">
            <a:avLst/>
          </a:prstGeom>
          <a:noFill/>
          <a:ln/>
        </p:spPr>
        <p:txBody>
          <a:bodyPr wrap="square" lIns="0" tIns="0" rIns="0" bIns="0" rtlCol="0" anchor="ctr"/>
          <a:lstStyle/>
          <a:p>
            <a:pPr marL="0" indent="0">
              <a:buNone/>
            </a:pPr>
            <a:r>
              <a:rPr lang="en-US" sz="1600" b="1" dirty="0">
                <a:solidFill>
                  <a:srgbClr val="F1F5F9"/>
                </a:solidFill>
                <a:latin typeface="Calibri" pitchFamily="34" charset="0"/>
                <a:ea typeface="Calibri" pitchFamily="34" charset="-122"/>
                <a:cs typeface="Calibri" pitchFamily="34" charset="-120"/>
              </a:rPr>
              <a:t>Register with valid data</a:t>
            </a:r>
            <a:endParaRPr lang="en-US" sz="1600" dirty="0"/>
          </a:p>
        </p:txBody>
      </p:sp>
      <p:sp>
        <p:nvSpPr>
          <p:cNvPr id="7" name="Text 5"/>
          <p:cNvSpPr/>
          <p:nvPr/>
        </p:nvSpPr>
        <p:spPr>
          <a:xfrm>
            <a:off x="411480" y="1380744"/>
            <a:ext cx="3291840" cy="219456"/>
          </a:xfrm>
          <a:prstGeom prst="rect">
            <a:avLst/>
          </a:prstGeom>
          <a:noFill/>
          <a:ln/>
        </p:spPr>
        <p:txBody>
          <a:bodyPr wrap="square" lIns="0" tIns="0" rIns="0" bIns="0" rtlCol="0" anchor="ctr"/>
          <a:lstStyle/>
          <a:p>
            <a:pPr marL="0" indent="0">
              <a:buNone/>
            </a:pPr>
            <a:r>
              <a:rPr lang="en-US" sz="1400" b="1" dirty="0">
                <a:solidFill>
                  <a:srgbClr val="94A3B8"/>
                </a:solidFill>
                <a:latin typeface="Calibri" pitchFamily="34" charset="0"/>
                <a:ea typeface="Calibri" pitchFamily="34" charset="-122"/>
                <a:cs typeface="Calibri" pitchFamily="34" charset="-120"/>
              </a:rPr>
              <a:t>Patient added, new ID shown</a:t>
            </a:r>
            <a:endParaRPr lang="en-US" sz="1400" b="1" dirty="0"/>
          </a:p>
        </p:txBody>
      </p:sp>
      <p:sp>
        <p:nvSpPr>
          <p:cNvPr id="8" name="Shape 6"/>
          <p:cNvSpPr/>
          <p:nvPr/>
        </p:nvSpPr>
        <p:spPr>
          <a:xfrm>
            <a:off x="3840480" y="1216152"/>
            <a:ext cx="548640" cy="365760"/>
          </a:xfrm>
          <a:prstGeom prst="rect">
            <a:avLst/>
          </a:prstGeom>
          <a:solidFill>
            <a:srgbClr val="16A34A"/>
          </a:solidFill>
          <a:ln w="12700">
            <a:solidFill>
              <a:srgbClr val="16A34A"/>
            </a:solidFill>
            <a:prstDash val="solid"/>
          </a:ln>
        </p:spPr>
      </p:sp>
      <p:sp>
        <p:nvSpPr>
          <p:cNvPr id="9" name="Text 7"/>
          <p:cNvSpPr/>
          <p:nvPr/>
        </p:nvSpPr>
        <p:spPr>
          <a:xfrm>
            <a:off x="3840480" y="1216152"/>
            <a:ext cx="548640" cy="36576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a:t>
            </a:r>
            <a:endParaRPr lang="en-US" sz="900" dirty="0"/>
          </a:p>
        </p:txBody>
      </p:sp>
      <p:sp>
        <p:nvSpPr>
          <p:cNvPr id="10" name="Shape 8"/>
          <p:cNvSpPr/>
          <p:nvPr/>
        </p:nvSpPr>
        <p:spPr>
          <a:xfrm>
            <a:off x="320040" y="1828800"/>
            <a:ext cx="4206240" cy="640080"/>
          </a:xfrm>
          <a:prstGeom prst="rect">
            <a:avLst/>
          </a:prstGeom>
          <a:solidFill>
            <a:srgbClr val="1A2E5A"/>
          </a:solidFill>
          <a:ln w="12700">
            <a:solidFill>
              <a:srgbClr val="16A34A"/>
            </a:solidFill>
            <a:prstDash val="solid"/>
          </a:ln>
        </p:spPr>
      </p:sp>
      <p:sp>
        <p:nvSpPr>
          <p:cNvPr id="11" name="Text 9"/>
          <p:cNvSpPr/>
          <p:nvPr/>
        </p:nvSpPr>
        <p:spPr>
          <a:xfrm>
            <a:off x="411480" y="1892808"/>
            <a:ext cx="3291840" cy="219456"/>
          </a:xfrm>
          <a:prstGeom prst="rect">
            <a:avLst/>
          </a:prstGeom>
          <a:noFill/>
          <a:ln/>
        </p:spPr>
        <p:txBody>
          <a:bodyPr wrap="square" lIns="0" tIns="0" rIns="0" bIns="0" rtlCol="0" anchor="ctr"/>
          <a:lstStyle/>
          <a:p>
            <a:pPr marL="0" indent="0">
              <a:buNone/>
            </a:pPr>
            <a:r>
              <a:rPr lang="en-US" sz="1600" b="1" dirty="0">
                <a:solidFill>
                  <a:srgbClr val="F1F5F9"/>
                </a:solidFill>
                <a:latin typeface="Calibri" pitchFamily="34" charset="0"/>
                <a:ea typeface="Calibri" pitchFamily="34" charset="-122"/>
                <a:cs typeface="Calibri" pitchFamily="34" charset="-120"/>
              </a:rPr>
              <a:t>Register with empty name</a:t>
            </a:r>
            <a:endParaRPr lang="en-US" sz="1600" dirty="0"/>
          </a:p>
        </p:txBody>
      </p:sp>
      <p:sp>
        <p:nvSpPr>
          <p:cNvPr id="12" name="Text 10"/>
          <p:cNvSpPr/>
          <p:nvPr/>
        </p:nvSpPr>
        <p:spPr>
          <a:xfrm>
            <a:off x="411480" y="2130552"/>
            <a:ext cx="3291840" cy="219456"/>
          </a:xfrm>
          <a:prstGeom prst="rect">
            <a:avLst/>
          </a:prstGeom>
          <a:noFill/>
          <a:ln/>
        </p:spPr>
        <p:txBody>
          <a:bodyPr wrap="square" lIns="0" tIns="0" rIns="0" bIns="0" rtlCol="0" anchor="ctr"/>
          <a:lstStyle/>
          <a:p>
            <a:pPr marL="0" indent="0">
              <a:buNone/>
            </a:pPr>
            <a:r>
              <a:rPr lang="en-US" sz="1200" b="1" dirty="0">
                <a:solidFill>
                  <a:srgbClr val="94A3B8"/>
                </a:solidFill>
                <a:latin typeface="Calibri" pitchFamily="34" charset="0"/>
                <a:ea typeface="Calibri" pitchFamily="34" charset="-122"/>
                <a:cs typeface="Calibri" pitchFamily="34" charset="-120"/>
              </a:rPr>
              <a:t>Error message shown, no data written</a:t>
            </a:r>
            <a:endParaRPr lang="en-US" sz="1200" b="1" dirty="0"/>
          </a:p>
        </p:txBody>
      </p:sp>
      <p:sp>
        <p:nvSpPr>
          <p:cNvPr id="13" name="Shape 11"/>
          <p:cNvSpPr/>
          <p:nvPr/>
        </p:nvSpPr>
        <p:spPr>
          <a:xfrm>
            <a:off x="3840480" y="1965960"/>
            <a:ext cx="548640" cy="365760"/>
          </a:xfrm>
          <a:prstGeom prst="rect">
            <a:avLst/>
          </a:prstGeom>
          <a:solidFill>
            <a:srgbClr val="16A34A"/>
          </a:solidFill>
          <a:ln w="12700">
            <a:solidFill>
              <a:srgbClr val="16A34A"/>
            </a:solidFill>
            <a:prstDash val="solid"/>
          </a:ln>
        </p:spPr>
      </p:sp>
      <p:sp>
        <p:nvSpPr>
          <p:cNvPr id="14" name="Text 12"/>
          <p:cNvSpPr/>
          <p:nvPr/>
        </p:nvSpPr>
        <p:spPr>
          <a:xfrm>
            <a:off x="3840480" y="1965960"/>
            <a:ext cx="548640" cy="36576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a:t>
            </a:r>
            <a:endParaRPr lang="en-US" sz="900" dirty="0"/>
          </a:p>
        </p:txBody>
      </p:sp>
      <p:sp>
        <p:nvSpPr>
          <p:cNvPr id="15" name="Shape 13"/>
          <p:cNvSpPr/>
          <p:nvPr/>
        </p:nvSpPr>
        <p:spPr>
          <a:xfrm>
            <a:off x="320040" y="2578608"/>
            <a:ext cx="4206240" cy="640080"/>
          </a:xfrm>
          <a:prstGeom prst="rect">
            <a:avLst/>
          </a:prstGeom>
          <a:solidFill>
            <a:srgbClr val="1A2E5A"/>
          </a:solidFill>
          <a:ln w="12700">
            <a:solidFill>
              <a:srgbClr val="16A34A"/>
            </a:solidFill>
            <a:prstDash val="solid"/>
          </a:ln>
        </p:spPr>
      </p:sp>
      <p:sp>
        <p:nvSpPr>
          <p:cNvPr id="16" name="Text 14"/>
          <p:cNvSpPr/>
          <p:nvPr/>
        </p:nvSpPr>
        <p:spPr>
          <a:xfrm>
            <a:off x="411480" y="2642616"/>
            <a:ext cx="3291840" cy="219456"/>
          </a:xfrm>
          <a:prstGeom prst="rect">
            <a:avLst/>
          </a:prstGeom>
          <a:noFill/>
          <a:ln/>
        </p:spPr>
        <p:txBody>
          <a:bodyPr wrap="square" lIns="0" tIns="0" rIns="0" bIns="0" rtlCol="0" anchor="ctr"/>
          <a:lstStyle/>
          <a:p>
            <a:pPr marL="0" indent="0">
              <a:buNone/>
            </a:pPr>
            <a:r>
              <a:rPr lang="en-US" sz="1600" b="1" dirty="0">
                <a:solidFill>
                  <a:srgbClr val="F1F5F9"/>
                </a:solidFill>
                <a:latin typeface="Calibri" pitchFamily="34" charset="0"/>
                <a:ea typeface="Calibri" pitchFamily="34" charset="-122"/>
                <a:cs typeface="Calibri" pitchFamily="34" charset="-120"/>
              </a:rPr>
              <a:t>Search by name (case-insensitive)</a:t>
            </a:r>
            <a:endParaRPr lang="en-US" sz="1600" dirty="0"/>
          </a:p>
        </p:txBody>
      </p:sp>
      <p:sp>
        <p:nvSpPr>
          <p:cNvPr id="17" name="Text 15"/>
          <p:cNvSpPr/>
          <p:nvPr/>
        </p:nvSpPr>
        <p:spPr>
          <a:xfrm>
            <a:off x="411480" y="2880360"/>
            <a:ext cx="3291840" cy="219456"/>
          </a:xfrm>
          <a:prstGeom prst="rect">
            <a:avLst/>
          </a:prstGeom>
          <a:noFill/>
          <a:ln/>
        </p:spPr>
        <p:txBody>
          <a:bodyPr wrap="square" lIns="0" tIns="0" rIns="0" bIns="0" rtlCol="0" anchor="ctr"/>
          <a:lstStyle/>
          <a:p>
            <a:pPr marL="0" indent="0">
              <a:buNone/>
            </a:pPr>
            <a:r>
              <a:rPr lang="en-US" sz="1200" b="1" dirty="0">
                <a:solidFill>
                  <a:srgbClr val="94A3B8"/>
                </a:solidFill>
                <a:latin typeface="Calibri" pitchFamily="34" charset="0"/>
                <a:ea typeface="Calibri" pitchFamily="34" charset="-122"/>
                <a:cs typeface="Calibri" pitchFamily="34" charset="-120"/>
              </a:rPr>
              <a:t>Correct patient record returned</a:t>
            </a:r>
            <a:endParaRPr lang="en-US" sz="1200" b="1" dirty="0"/>
          </a:p>
        </p:txBody>
      </p:sp>
      <p:sp>
        <p:nvSpPr>
          <p:cNvPr id="18" name="Shape 16"/>
          <p:cNvSpPr/>
          <p:nvPr/>
        </p:nvSpPr>
        <p:spPr>
          <a:xfrm>
            <a:off x="3840480" y="2715768"/>
            <a:ext cx="548640" cy="365760"/>
          </a:xfrm>
          <a:prstGeom prst="rect">
            <a:avLst/>
          </a:prstGeom>
          <a:solidFill>
            <a:srgbClr val="16A34A"/>
          </a:solidFill>
          <a:ln w="12700">
            <a:solidFill>
              <a:srgbClr val="16A34A"/>
            </a:solidFill>
            <a:prstDash val="solid"/>
          </a:ln>
        </p:spPr>
      </p:sp>
      <p:sp>
        <p:nvSpPr>
          <p:cNvPr id="19" name="Text 17"/>
          <p:cNvSpPr/>
          <p:nvPr/>
        </p:nvSpPr>
        <p:spPr>
          <a:xfrm>
            <a:off x="3840480" y="2715768"/>
            <a:ext cx="548640" cy="36576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a:t>
            </a:r>
            <a:endParaRPr lang="en-US" sz="900" dirty="0"/>
          </a:p>
        </p:txBody>
      </p:sp>
      <p:sp>
        <p:nvSpPr>
          <p:cNvPr id="20" name="Shape 18"/>
          <p:cNvSpPr/>
          <p:nvPr/>
        </p:nvSpPr>
        <p:spPr>
          <a:xfrm>
            <a:off x="320040" y="3328416"/>
            <a:ext cx="4206240" cy="640080"/>
          </a:xfrm>
          <a:prstGeom prst="rect">
            <a:avLst/>
          </a:prstGeom>
          <a:solidFill>
            <a:srgbClr val="1A2E5A"/>
          </a:solidFill>
          <a:ln w="12700">
            <a:solidFill>
              <a:srgbClr val="16A34A"/>
            </a:solidFill>
            <a:prstDash val="solid"/>
          </a:ln>
        </p:spPr>
      </p:sp>
      <p:sp>
        <p:nvSpPr>
          <p:cNvPr id="21" name="Text 19"/>
          <p:cNvSpPr/>
          <p:nvPr/>
        </p:nvSpPr>
        <p:spPr>
          <a:xfrm>
            <a:off x="411480" y="3392424"/>
            <a:ext cx="3291840" cy="219456"/>
          </a:xfrm>
          <a:prstGeom prst="rect">
            <a:avLst/>
          </a:prstGeom>
          <a:noFill/>
          <a:ln/>
        </p:spPr>
        <p:txBody>
          <a:bodyPr wrap="square" lIns="0" tIns="0" rIns="0" bIns="0" rtlCol="0" anchor="ctr"/>
          <a:lstStyle/>
          <a:p>
            <a:pPr marL="0" indent="0">
              <a:buNone/>
            </a:pPr>
            <a:r>
              <a:rPr lang="en-US" sz="1600" b="1" dirty="0">
                <a:solidFill>
                  <a:srgbClr val="F1F5F9"/>
                </a:solidFill>
                <a:latin typeface="Calibri" pitchFamily="34" charset="0"/>
                <a:ea typeface="Calibri" pitchFamily="34" charset="-122"/>
                <a:cs typeface="Calibri" pitchFamily="34" charset="-120"/>
              </a:rPr>
              <a:t>Search by Patient ID</a:t>
            </a:r>
            <a:endParaRPr lang="en-US" sz="1600" dirty="0"/>
          </a:p>
        </p:txBody>
      </p:sp>
      <p:sp>
        <p:nvSpPr>
          <p:cNvPr id="22" name="Text 20"/>
          <p:cNvSpPr/>
          <p:nvPr/>
        </p:nvSpPr>
        <p:spPr>
          <a:xfrm>
            <a:off x="411480" y="3630168"/>
            <a:ext cx="3291840" cy="219456"/>
          </a:xfrm>
          <a:prstGeom prst="rect">
            <a:avLst/>
          </a:prstGeom>
          <a:noFill/>
          <a:ln/>
        </p:spPr>
        <p:txBody>
          <a:bodyPr wrap="square" lIns="0" tIns="0" rIns="0" bIns="0" rtlCol="0" anchor="ctr"/>
          <a:lstStyle/>
          <a:p>
            <a:pPr marL="0" indent="0">
              <a:buNone/>
            </a:pPr>
            <a:r>
              <a:rPr lang="en-US" sz="1200" b="1" dirty="0">
                <a:solidFill>
                  <a:srgbClr val="94A3B8"/>
                </a:solidFill>
                <a:latin typeface="Calibri" pitchFamily="34" charset="0"/>
                <a:ea typeface="Calibri" pitchFamily="34" charset="-122"/>
                <a:cs typeface="Calibri" pitchFamily="34" charset="-120"/>
              </a:rPr>
              <a:t>Correct patient record returned</a:t>
            </a:r>
            <a:endParaRPr lang="en-US" sz="1200" b="1" dirty="0"/>
          </a:p>
        </p:txBody>
      </p:sp>
      <p:sp>
        <p:nvSpPr>
          <p:cNvPr id="23" name="Shape 21"/>
          <p:cNvSpPr/>
          <p:nvPr/>
        </p:nvSpPr>
        <p:spPr>
          <a:xfrm>
            <a:off x="3840480" y="3465576"/>
            <a:ext cx="548640" cy="365760"/>
          </a:xfrm>
          <a:prstGeom prst="rect">
            <a:avLst/>
          </a:prstGeom>
          <a:solidFill>
            <a:srgbClr val="16A34A"/>
          </a:solidFill>
          <a:ln w="12700">
            <a:solidFill>
              <a:srgbClr val="16A34A"/>
            </a:solidFill>
            <a:prstDash val="solid"/>
          </a:ln>
        </p:spPr>
      </p:sp>
      <p:sp>
        <p:nvSpPr>
          <p:cNvPr id="24" name="Text 22"/>
          <p:cNvSpPr/>
          <p:nvPr/>
        </p:nvSpPr>
        <p:spPr>
          <a:xfrm>
            <a:off x="3840480" y="3465576"/>
            <a:ext cx="548640" cy="36576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a:t>
            </a:r>
            <a:endParaRPr lang="en-US" sz="900" dirty="0"/>
          </a:p>
        </p:txBody>
      </p:sp>
      <p:sp>
        <p:nvSpPr>
          <p:cNvPr id="25" name="Shape 23"/>
          <p:cNvSpPr/>
          <p:nvPr/>
        </p:nvSpPr>
        <p:spPr>
          <a:xfrm>
            <a:off x="320040" y="4078224"/>
            <a:ext cx="4206240" cy="640080"/>
          </a:xfrm>
          <a:prstGeom prst="rect">
            <a:avLst/>
          </a:prstGeom>
          <a:solidFill>
            <a:srgbClr val="1A2E5A"/>
          </a:solidFill>
          <a:ln w="12700">
            <a:solidFill>
              <a:srgbClr val="16A34A"/>
            </a:solidFill>
            <a:prstDash val="solid"/>
          </a:ln>
        </p:spPr>
      </p:sp>
      <p:sp>
        <p:nvSpPr>
          <p:cNvPr id="26" name="Text 24"/>
          <p:cNvSpPr/>
          <p:nvPr/>
        </p:nvSpPr>
        <p:spPr>
          <a:xfrm>
            <a:off x="411480" y="4142232"/>
            <a:ext cx="3291840" cy="219456"/>
          </a:xfrm>
          <a:prstGeom prst="rect">
            <a:avLst/>
          </a:prstGeom>
          <a:noFill/>
          <a:ln/>
        </p:spPr>
        <p:txBody>
          <a:bodyPr wrap="square" lIns="0" tIns="0" rIns="0" bIns="0" rtlCol="0" anchor="ctr"/>
          <a:lstStyle/>
          <a:p>
            <a:pPr marL="0" indent="0">
              <a:buNone/>
            </a:pPr>
            <a:r>
              <a:rPr lang="en-US" sz="1600" b="1" dirty="0">
                <a:solidFill>
                  <a:srgbClr val="F1F5F9"/>
                </a:solidFill>
                <a:latin typeface="Calibri" pitchFamily="34" charset="0"/>
                <a:ea typeface="Calibri" pitchFamily="34" charset="-122"/>
                <a:cs typeface="Calibri" pitchFamily="34" charset="-120"/>
              </a:rPr>
              <a:t>Search for non-existent patient</a:t>
            </a:r>
            <a:endParaRPr lang="en-US" sz="1600" dirty="0"/>
          </a:p>
        </p:txBody>
      </p:sp>
      <p:sp>
        <p:nvSpPr>
          <p:cNvPr id="27" name="Text 25"/>
          <p:cNvSpPr/>
          <p:nvPr/>
        </p:nvSpPr>
        <p:spPr>
          <a:xfrm>
            <a:off x="411480" y="4379976"/>
            <a:ext cx="3291840" cy="219456"/>
          </a:xfrm>
          <a:prstGeom prst="rect">
            <a:avLst/>
          </a:prstGeom>
          <a:noFill/>
          <a:ln/>
        </p:spPr>
        <p:txBody>
          <a:bodyPr wrap="square" lIns="0" tIns="0" rIns="0" bIns="0" rtlCol="0" anchor="ctr"/>
          <a:lstStyle/>
          <a:p>
            <a:pPr marL="0" indent="0">
              <a:buNone/>
            </a:pPr>
            <a:r>
              <a:rPr lang="en-US" sz="1200" b="1" dirty="0">
                <a:solidFill>
                  <a:srgbClr val="94A3B8"/>
                </a:solidFill>
                <a:latin typeface="Calibri" pitchFamily="34" charset="0"/>
                <a:ea typeface="Calibri" pitchFamily="34" charset="-122"/>
                <a:cs typeface="Calibri" pitchFamily="34" charset="-120"/>
              </a:rPr>
              <a:t>'Not found' message shown</a:t>
            </a:r>
            <a:endParaRPr lang="en-US" sz="1200" b="1" dirty="0"/>
          </a:p>
        </p:txBody>
      </p:sp>
      <p:sp>
        <p:nvSpPr>
          <p:cNvPr id="28" name="Shape 26"/>
          <p:cNvSpPr/>
          <p:nvPr/>
        </p:nvSpPr>
        <p:spPr>
          <a:xfrm>
            <a:off x="3840480" y="4215384"/>
            <a:ext cx="548640" cy="365760"/>
          </a:xfrm>
          <a:prstGeom prst="rect">
            <a:avLst/>
          </a:prstGeom>
          <a:solidFill>
            <a:srgbClr val="16A34A"/>
          </a:solidFill>
          <a:ln w="12700">
            <a:solidFill>
              <a:srgbClr val="16A34A"/>
            </a:solidFill>
            <a:prstDash val="solid"/>
          </a:ln>
        </p:spPr>
      </p:sp>
      <p:sp>
        <p:nvSpPr>
          <p:cNvPr id="29" name="Text 27"/>
          <p:cNvSpPr/>
          <p:nvPr/>
        </p:nvSpPr>
        <p:spPr>
          <a:xfrm>
            <a:off x="3840480" y="4215384"/>
            <a:ext cx="548640" cy="36576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a:t>
            </a:r>
            <a:endParaRPr lang="en-US" sz="900" dirty="0"/>
          </a:p>
        </p:txBody>
      </p:sp>
      <p:sp>
        <p:nvSpPr>
          <p:cNvPr id="30" name="Shape 28"/>
          <p:cNvSpPr/>
          <p:nvPr/>
        </p:nvSpPr>
        <p:spPr>
          <a:xfrm>
            <a:off x="4709160" y="1078992"/>
            <a:ext cx="4206240" cy="640080"/>
          </a:xfrm>
          <a:prstGeom prst="rect">
            <a:avLst/>
          </a:prstGeom>
          <a:solidFill>
            <a:srgbClr val="1A2E5A"/>
          </a:solidFill>
          <a:ln w="12700">
            <a:solidFill>
              <a:srgbClr val="16A34A"/>
            </a:solidFill>
            <a:prstDash val="solid"/>
          </a:ln>
        </p:spPr>
      </p:sp>
      <p:sp>
        <p:nvSpPr>
          <p:cNvPr id="31" name="Text 29"/>
          <p:cNvSpPr/>
          <p:nvPr/>
        </p:nvSpPr>
        <p:spPr>
          <a:xfrm>
            <a:off x="4800600" y="1143000"/>
            <a:ext cx="3291840" cy="219456"/>
          </a:xfrm>
          <a:prstGeom prst="rect">
            <a:avLst/>
          </a:prstGeom>
          <a:noFill/>
          <a:ln/>
        </p:spPr>
        <p:txBody>
          <a:bodyPr wrap="square" lIns="0" tIns="0" rIns="0" bIns="0" rtlCol="0" anchor="ctr"/>
          <a:lstStyle/>
          <a:p>
            <a:pPr marL="0" indent="0">
              <a:buNone/>
            </a:pPr>
            <a:r>
              <a:rPr lang="en-US" sz="1600" b="1" dirty="0">
                <a:solidFill>
                  <a:srgbClr val="F1F5F9"/>
                </a:solidFill>
                <a:latin typeface="Calibri" pitchFamily="34" charset="0"/>
                <a:ea typeface="Calibri" pitchFamily="34" charset="-122"/>
                <a:cs typeface="Calibri" pitchFamily="34" charset="-120"/>
              </a:rPr>
              <a:t>Book appointment — valid Patient ID</a:t>
            </a:r>
            <a:endParaRPr lang="en-US" sz="1600" dirty="0"/>
          </a:p>
        </p:txBody>
      </p:sp>
      <p:sp>
        <p:nvSpPr>
          <p:cNvPr id="32" name="Text 30"/>
          <p:cNvSpPr/>
          <p:nvPr/>
        </p:nvSpPr>
        <p:spPr>
          <a:xfrm>
            <a:off x="4800600" y="1380744"/>
            <a:ext cx="3291840" cy="219456"/>
          </a:xfrm>
          <a:prstGeom prst="rect">
            <a:avLst/>
          </a:prstGeom>
          <a:noFill/>
          <a:ln/>
        </p:spPr>
        <p:txBody>
          <a:bodyPr wrap="square" lIns="0" tIns="0" rIns="0" bIns="0" rtlCol="0" anchor="ctr"/>
          <a:lstStyle/>
          <a:p>
            <a:pPr marL="0" indent="0">
              <a:buNone/>
            </a:pPr>
            <a:r>
              <a:rPr lang="en-US" sz="1400" b="1" dirty="0">
                <a:solidFill>
                  <a:srgbClr val="94A3B8"/>
                </a:solidFill>
                <a:latin typeface="Calibri" pitchFamily="34" charset="0"/>
                <a:ea typeface="Calibri" pitchFamily="34" charset="-122"/>
                <a:cs typeface="Calibri" pitchFamily="34" charset="-120"/>
              </a:rPr>
              <a:t>Appointment saved, list updated</a:t>
            </a:r>
            <a:endParaRPr lang="en-US" sz="1400" b="1" dirty="0"/>
          </a:p>
        </p:txBody>
      </p:sp>
      <p:sp>
        <p:nvSpPr>
          <p:cNvPr id="33" name="Shape 31"/>
          <p:cNvSpPr/>
          <p:nvPr/>
        </p:nvSpPr>
        <p:spPr>
          <a:xfrm>
            <a:off x="8229600" y="1216152"/>
            <a:ext cx="548640" cy="365760"/>
          </a:xfrm>
          <a:prstGeom prst="rect">
            <a:avLst/>
          </a:prstGeom>
          <a:solidFill>
            <a:srgbClr val="16A34A"/>
          </a:solidFill>
          <a:ln w="12700">
            <a:solidFill>
              <a:srgbClr val="16A34A"/>
            </a:solidFill>
            <a:prstDash val="solid"/>
          </a:ln>
        </p:spPr>
      </p:sp>
      <p:sp>
        <p:nvSpPr>
          <p:cNvPr id="34" name="Text 32"/>
          <p:cNvSpPr/>
          <p:nvPr/>
        </p:nvSpPr>
        <p:spPr>
          <a:xfrm>
            <a:off x="8229600" y="1216152"/>
            <a:ext cx="548640" cy="36576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a:t>
            </a:r>
            <a:endParaRPr lang="en-US" sz="900" dirty="0"/>
          </a:p>
        </p:txBody>
      </p:sp>
      <p:sp>
        <p:nvSpPr>
          <p:cNvPr id="35" name="Shape 33"/>
          <p:cNvSpPr/>
          <p:nvPr/>
        </p:nvSpPr>
        <p:spPr>
          <a:xfrm>
            <a:off x="4709160" y="1828800"/>
            <a:ext cx="4206240" cy="640080"/>
          </a:xfrm>
          <a:prstGeom prst="rect">
            <a:avLst/>
          </a:prstGeom>
          <a:solidFill>
            <a:srgbClr val="1A2E5A"/>
          </a:solidFill>
          <a:ln w="12700">
            <a:solidFill>
              <a:srgbClr val="16A34A"/>
            </a:solidFill>
            <a:prstDash val="solid"/>
          </a:ln>
        </p:spPr>
      </p:sp>
      <p:sp>
        <p:nvSpPr>
          <p:cNvPr id="36" name="Text 34"/>
          <p:cNvSpPr/>
          <p:nvPr/>
        </p:nvSpPr>
        <p:spPr>
          <a:xfrm>
            <a:off x="4800600" y="1892808"/>
            <a:ext cx="3291840" cy="219456"/>
          </a:xfrm>
          <a:prstGeom prst="rect">
            <a:avLst/>
          </a:prstGeom>
          <a:noFill/>
          <a:ln/>
        </p:spPr>
        <p:txBody>
          <a:bodyPr wrap="square" lIns="0" tIns="0" rIns="0" bIns="0" rtlCol="0" anchor="ctr"/>
          <a:lstStyle/>
          <a:p>
            <a:pPr marL="0" indent="0">
              <a:buNone/>
            </a:pPr>
            <a:r>
              <a:rPr lang="en-US" sz="1600" b="1" dirty="0">
                <a:solidFill>
                  <a:srgbClr val="F1F5F9"/>
                </a:solidFill>
                <a:latin typeface="Calibri" pitchFamily="34" charset="0"/>
                <a:ea typeface="Calibri" pitchFamily="34" charset="-122"/>
                <a:cs typeface="Calibri" pitchFamily="34" charset="-120"/>
              </a:rPr>
              <a:t>Book appointment — invalid Patient ID</a:t>
            </a:r>
            <a:endParaRPr lang="en-US" sz="1600" dirty="0"/>
          </a:p>
        </p:txBody>
      </p:sp>
      <p:sp>
        <p:nvSpPr>
          <p:cNvPr id="37" name="Text 35"/>
          <p:cNvSpPr/>
          <p:nvPr/>
        </p:nvSpPr>
        <p:spPr>
          <a:xfrm>
            <a:off x="4800600" y="2130552"/>
            <a:ext cx="3291840" cy="219456"/>
          </a:xfrm>
          <a:prstGeom prst="rect">
            <a:avLst/>
          </a:prstGeom>
          <a:noFill/>
          <a:ln/>
        </p:spPr>
        <p:txBody>
          <a:bodyPr wrap="square" lIns="0" tIns="0" rIns="0" bIns="0" rtlCol="0" anchor="ctr"/>
          <a:lstStyle/>
          <a:p>
            <a:pPr marL="0" indent="0">
              <a:buNone/>
            </a:pPr>
            <a:r>
              <a:rPr lang="en-US" sz="1200" b="1" dirty="0">
                <a:solidFill>
                  <a:srgbClr val="94A3B8"/>
                </a:solidFill>
                <a:latin typeface="Calibri" pitchFamily="34" charset="0"/>
                <a:ea typeface="Calibri" pitchFamily="34" charset="-122"/>
                <a:cs typeface="Calibri" pitchFamily="34" charset="-120"/>
              </a:rPr>
              <a:t>Error: ID not found</a:t>
            </a:r>
            <a:endParaRPr lang="en-US" sz="1200" b="1" dirty="0"/>
          </a:p>
        </p:txBody>
      </p:sp>
      <p:sp>
        <p:nvSpPr>
          <p:cNvPr id="38" name="Shape 36"/>
          <p:cNvSpPr/>
          <p:nvPr/>
        </p:nvSpPr>
        <p:spPr>
          <a:xfrm>
            <a:off x="8229600" y="1965960"/>
            <a:ext cx="548640" cy="365760"/>
          </a:xfrm>
          <a:prstGeom prst="rect">
            <a:avLst/>
          </a:prstGeom>
          <a:solidFill>
            <a:srgbClr val="16A34A"/>
          </a:solidFill>
          <a:ln w="12700">
            <a:solidFill>
              <a:srgbClr val="16A34A"/>
            </a:solidFill>
            <a:prstDash val="solid"/>
          </a:ln>
        </p:spPr>
      </p:sp>
      <p:sp>
        <p:nvSpPr>
          <p:cNvPr id="39" name="Text 37"/>
          <p:cNvSpPr/>
          <p:nvPr/>
        </p:nvSpPr>
        <p:spPr>
          <a:xfrm>
            <a:off x="8229600" y="1965960"/>
            <a:ext cx="548640" cy="36576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a:t>
            </a:r>
            <a:endParaRPr lang="en-US" sz="900" dirty="0"/>
          </a:p>
        </p:txBody>
      </p:sp>
      <p:sp>
        <p:nvSpPr>
          <p:cNvPr id="40" name="Shape 38"/>
          <p:cNvSpPr/>
          <p:nvPr/>
        </p:nvSpPr>
        <p:spPr>
          <a:xfrm>
            <a:off x="4709160" y="2578608"/>
            <a:ext cx="4206240" cy="640080"/>
          </a:xfrm>
          <a:prstGeom prst="rect">
            <a:avLst/>
          </a:prstGeom>
          <a:solidFill>
            <a:srgbClr val="1A2E5A"/>
          </a:solidFill>
          <a:ln w="12700">
            <a:solidFill>
              <a:srgbClr val="16A34A"/>
            </a:solidFill>
            <a:prstDash val="solid"/>
          </a:ln>
        </p:spPr>
      </p:sp>
      <p:sp>
        <p:nvSpPr>
          <p:cNvPr id="41" name="Text 39"/>
          <p:cNvSpPr/>
          <p:nvPr/>
        </p:nvSpPr>
        <p:spPr>
          <a:xfrm>
            <a:off x="4800600" y="2642616"/>
            <a:ext cx="3291840" cy="219456"/>
          </a:xfrm>
          <a:prstGeom prst="rect">
            <a:avLst/>
          </a:prstGeom>
          <a:noFill/>
          <a:ln/>
        </p:spPr>
        <p:txBody>
          <a:bodyPr wrap="square" lIns="0" tIns="0" rIns="0" bIns="0" rtlCol="0" anchor="ctr"/>
          <a:lstStyle/>
          <a:p>
            <a:pPr marL="0" indent="0">
              <a:buNone/>
            </a:pPr>
            <a:r>
              <a:rPr lang="en-US" sz="1600" b="1" dirty="0">
                <a:solidFill>
                  <a:srgbClr val="F1F5F9"/>
                </a:solidFill>
                <a:latin typeface="Calibri" pitchFamily="34" charset="0"/>
                <a:ea typeface="Calibri" pitchFamily="34" charset="-122"/>
                <a:cs typeface="Calibri" pitchFamily="34" charset="-120"/>
              </a:rPr>
              <a:t>Issue prescription — valid Patient ID</a:t>
            </a:r>
            <a:endParaRPr lang="en-US" sz="1600" dirty="0"/>
          </a:p>
        </p:txBody>
      </p:sp>
      <p:sp>
        <p:nvSpPr>
          <p:cNvPr id="42" name="Text 40"/>
          <p:cNvSpPr/>
          <p:nvPr/>
        </p:nvSpPr>
        <p:spPr>
          <a:xfrm>
            <a:off x="4800600" y="2880360"/>
            <a:ext cx="3291840" cy="219456"/>
          </a:xfrm>
          <a:prstGeom prst="rect">
            <a:avLst/>
          </a:prstGeom>
          <a:noFill/>
          <a:ln/>
        </p:spPr>
        <p:txBody>
          <a:bodyPr wrap="square" lIns="0" tIns="0" rIns="0" bIns="0" rtlCol="0" anchor="ctr"/>
          <a:lstStyle/>
          <a:p>
            <a:pPr marL="0" indent="0">
              <a:buNone/>
            </a:pPr>
            <a:r>
              <a:rPr lang="en-US" sz="1200" b="1" dirty="0">
                <a:solidFill>
                  <a:srgbClr val="94A3B8"/>
                </a:solidFill>
                <a:latin typeface="Calibri" pitchFamily="34" charset="0"/>
                <a:ea typeface="Calibri" pitchFamily="34" charset="-122"/>
                <a:cs typeface="Calibri" pitchFamily="34" charset="-120"/>
              </a:rPr>
              <a:t>Prescription saved, date auto-stamped</a:t>
            </a:r>
            <a:endParaRPr lang="en-US" sz="1200" b="1" dirty="0"/>
          </a:p>
        </p:txBody>
      </p:sp>
      <p:sp>
        <p:nvSpPr>
          <p:cNvPr id="43" name="Shape 41"/>
          <p:cNvSpPr/>
          <p:nvPr/>
        </p:nvSpPr>
        <p:spPr>
          <a:xfrm>
            <a:off x="8229600" y="2715768"/>
            <a:ext cx="548640" cy="365760"/>
          </a:xfrm>
          <a:prstGeom prst="rect">
            <a:avLst/>
          </a:prstGeom>
          <a:solidFill>
            <a:srgbClr val="16A34A"/>
          </a:solidFill>
          <a:ln w="12700">
            <a:solidFill>
              <a:srgbClr val="16A34A"/>
            </a:solidFill>
            <a:prstDash val="solid"/>
          </a:ln>
        </p:spPr>
      </p:sp>
      <p:sp>
        <p:nvSpPr>
          <p:cNvPr id="44" name="Text 42"/>
          <p:cNvSpPr/>
          <p:nvPr/>
        </p:nvSpPr>
        <p:spPr>
          <a:xfrm>
            <a:off x="8229600" y="2715768"/>
            <a:ext cx="548640" cy="36576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a:t>
            </a:r>
            <a:endParaRPr lang="en-US" sz="900" dirty="0"/>
          </a:p>
        </p:txBody>
      </p:sp>
      <p:sp>
        <p:nvSpPr>
          <p:cNvPr id="45" name="Shape 43"/>
          <p:cNvSpPr/>
          <p:nvPr/>
        </p:nvSpPr>
        <p:spPr>
          <a:xfrm>
            <a:off x="4709160" y="3328416"/>
            <a:ext cx="4206240" cy="640080"/>
          </a:xfrm>
          <a:prstGeom prst="rect">
            <a:avLst/>
          </a:prstGeom>
          <a:solidFill>
            <a:srgbClr val="1A2E5A"/>
          </a:solidFill>
          <a:ln w="12700">
            <a:solidFill>
              <a:srgbClr val="16A34A"/>
            </a:solidFill>
            <a:prstDash val="solid"/>
          </a:ln>
        </p:spPr>
      </p:sp>
      <p:sp>
        <p:nvSpPr>
          <p:cNvPr id="46" name="Text 44"/>
          <p:cNvSpPr/>
          <p:nvPr/>
        </p:nvSpPr>
        <p:spPr>
          <a:xfrm>
            <a:off x="4800600" y="3392424"/>
            <a:ext cx="3291840" cy="219456"/>
          </a:xfrm>
          <a:prstGeom prst="rect">
            <a:avLst/>
          </a:prstGeom>
          <a:noFill/>
          <a:ln/>
        </p:spPr>
        <p:txBody>
          <a:bodyPr wrap="square" lIns="0" tIns="0" rIns="0" bIns="0" rtlCol="0" anchor="ctr"/>
          <a:lstStyle/>
          <a:p>
            <a:pPr marL="0" indent="0">
              <a:buNone/>
            </a:pPr>
            <a:r>
              <a:rPr lang="en-US" sz="1600" b="1" dirty="0">
                <a:solidFill>
                  <a:srgbClr val="F1F5F9"/>
                </a:solidFill>
                <a:latin typeface="Calibri" pitchFamily="34" charset="0"/>
                <a:ea typeface="Calibri" pitchFamily="34" charset="-122"/>
                <a:cs typeface="Calibri" pitchFamily="34" charset="-120"/>
              </a:rPr>
              <a:t>Issue prescription — invalid Patient ID</a:t>
            </a:r>
            <a:endParaRPr lang="en-US" sz="1600" dirty="0"/>
          </a:p>
        </p:txBody>
      </p:sp>
      <p:sp>
        <p:nvSpPr>
          <p:cNvPr id="47" name="Text 45"/>
          <p:cNvSpPr/>
          <p:nvPr/>
        </p:nvSpPr>
        <p:spPr>
          <a:xfrm>
            <a:off x="4800600" y="3630168"/>
            <a:ext cx="3291840" cy="219456"/>
          </a:xfrm>
          <a:prstGeom prst="rect">
            <a:avLst/>
          </a:prstGeom>
          <a:noFill/>
          <a:ln/>
        </p:spPr>
        <p:txBody>
          <a:bodyPr wrap="square" lIns="0" tIns="0" rIns="0" bIns="0" rtlCol="0" anchor="ctr"/>
          <a:lstStyle/>
          <a:p>
            <a:pPr marL="0" indent="0">
              <a:buNone/>
            </a:pPr>
            <a:r>
              <a:rPr lang="en-US" sz="1200" b="1" dirty="0">
                <a:solidFill>
                  <a:srgbClr val="94A3B8"/>
                </a:solidFill>
                <a:latin typeface="Calibri" pitchFamily="34" charset="0"/>
                <a:ea typeface="Calibri" pitchFamily="34" charset="-122"/>
                <a:cs typeface="Calibri" pitchFamily="34" charset="-120"/>
              </a:rPr>
              <a:t>Error: ID not found</a:t>
            </a:r>
            <a:endParaRPr lang="en-US" sz="1200" b="1" dirty="0"/>
          </a:p>
        </p:txBody>
      </p:sp>
      <p:sp>
        <p:nvSpPr>
          <p:cNvPr id="48" name="Shape 46"/>
          <p:cNvSpPr/>
          <p:nvPr/>
        </p:nvSpPr>
        <p:spPr>
          <a:xfrm>
            <a:off x="8229600" y="3465576"/>
            <a:ext cx="548640" cy="365760"/>
          </a:xfrm>
          <a:prstGeom prst="rect">
            <a:avLst/>
          </a:prstGeom>
          <a:solidFill>
            <a:srgbClr val="16A34A"/>
          </a:solidFill>
          <a:ln w="12700">
            <a:solidFill>
              <a:srgbClr val="16A34A"/>
            </a:solidFill>
            <a:prstDash val="solid"/>
          </a:ln>
        </p:spPr>
      </p:sp>
      <p:sp>
        <p:nvSpPr>
          <p:cNvPr id="49" name="Text 47"/>
          <p:cNvSpPr/>
          <p:nvPr/>
        </p:nvSpPr>
        <p:spPr>
          <a:xfrm>
            <a:off x="8229600" y="3465576"/>
            <a:ext cx="548640" cy="36576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a:t>
            </a:r>
            <a:endParaRPr lang="en-US" sz="900" dirty="0"/>
          </a:p>
        </p:txBody>
      </p:sp>
      <p:sp>
        <p:nvSpPr>
          <p:cNvPr id="50" name="Shape 48"/>
          <p:cNvSpPr/>
          <p:nvPr/>
        </p:nvSpPr>
        <p:spPr>
          <a:xfrm>
            <a:off x="4709160" y="4078224"/>
            <a:ext cx="4206240" cy="640080"/>
          </a:xfrm>
          <a:prstGeom prst="rect">
            <a:avLst/>
          </a:prstGeom>
          <a:solidFill>
            <a:srgbClr val="1A2E5A"/>
          </a:solidFill>
          <a:ln w="12700">
            <a:solidFill>
              <a:srgbClr val="16A34A"/>
            </a:solidFill>
            <a:prstDash val="solid"/>
          </a:ln>
        </p:spPr>
      </p:sp>
      <p:sp>
        <p:nvSpPr>
          <p:cNvPr id="51" name="Text 49"/>
          <p:cNvSpPr/>
          <p:nvPr/>
        </p:nvSpPr>
        <p:spPr>
          <a:xfrm>
            <a:off x="4800600" y="4142232"/>
            <a:ext cx="3291840" cy="219456"/>
          </a:xfrm>
          <a:prstGeom prst="rect">
            <a:avLst/>
          </a:prstGeom>
          <a:noFill/>
          <a:ln/>
        </p:spPr>
        <p:txBody>
          <a:bodyPr wrap="square" lIns="0" tIns="0" rIns="0" bIns="0" rtlCol="0" anchor="ctr"/>
          <a:lstStyle/>
          <a:p>
            <a:pPr marL="0" indent="0">
              <a:buNone/>
            </a:pPr>
            <a:r>
              <a:rPr lang="en-US" sz="1600" b="1" dirty="0">
                <a:solidFill>
                  <a:srgbClr val="F1F5F9"/>
                </a:solidFill>
                <a:latin typeface="Calibri" pitchFamily="34" charset="0"/>
                <a:ea typeface="Calibri" pitchFamily="34" charset="-122"/>
                <a:cs typeface="Calibri" pitchFamily="34" charset="-120"/>
              </a:rPr>
              <a:t>View all patients (Show All)</a:t>
            </a:r>
            <a:endParaRPr lang="en-US" sz="1600" dirty="0"/>
          </a:p>
        </p:txBody>
      </p:sp>
      <p:sp>
        <p:nvSpPr>
          <p:cNvPr id="52" name="Text 50"/>
          <p:cNvSpPr/>
          <p:nvPr/>
        </p:nvSpPr>
        <p:spPr>
          <a:xfrm>
            <a:off x="4800600" y="4379976"/>
            <a:ext cx="3291840" cy="219456"/>
          </a:xfrm>
          <a:prstGeom prst="rect">
            <a:avLst/>
          </a:prstGeom>
          <a:noFill/>
          <a:ln/>
        </p:spPr>
        <p:txBody>
          <a:bodyPr wrap="square" lIns="0" tIns="0" rIns="0" bIns="0" rtlCol="0" anchor="ctr"/>
          <a:lstStyle/>
          <a:p>
            <a:pPr marL="0" indent="0">
              <a:buNone/>
            </a:pPr>
            <a:r>
              <a:rPr lang="en-US" sz="1200" b="1" dirty="0">
                <a:solidFill>
                  <a:srgbClr val="94A3B8"/>
                </a:solidFill>
                <a:latin typeface="Calibri" pitchFamily="34" charset="0"/>
                <a:ea typeface="Calibri" pitchFamily="34" charset="-122"/>
                <a:cs typeface="Calibri" pitchFamily="34" charset="-120"/>
              </a:rPr>
              <a:t>All records displayed</a:t>
            </a:r>
            <a:endParaRPr lang="en-US" sz="1200" b="1" dirty="0"/>
          </a:p>
        </p:txBody>
      </p:sp>
      <p:sp>
        <p:nvSpPr>
          <p:cNvPr id="53" name="Shape 51"/>
          <p:cNvSpPr/>
          <p:nvPr/>
        </p:nvSpPr>
        <p:spPr>
          <a:xfrm>
            <a:off x="8229600" y="4215384"/>
            <a:ext cx="548640" cy="365760"/>
          </a:xfrm>
          <a:prstGeom prst="rect">
            <a:avLst/>
          </a:prstGeom>
          <a:solidFill>
            <a:srgbClr val="16A34A"/>
          </a:solidFill>
          <a:ln w="12700">
            <a:solidFill>
              <a:srgbClr val="16A34A"/>
            </a:solidFill>
            <a:prstDash val="solid"/>
          </a:ln>
        </p:spPr>
      </p:sp>
      <p:sp>
        <p:nvSpPr>
          <p:cNvPr id="54" name="Text 52"/>
          <p:cNvSpPr/>
          <p:nvPr/>
        </p:nvSpPr>
        <p:spPr>
          <a:xfrm>
            <a:off x="8229600" y="4215384"/>
            <a:ext cx="548640" cy="36576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a:t>
            </a:r>
            <a:endParaRPr lang="en-US" sz="900" dirty="0"/>
          </a:p>
        </p:txBody>
      </p:sp>
      <p:sp>
        <p:nvSpPr>
          <p:cNvPr id="55" name="TextBox 54">
            <a:extLst>
              <a:ext uri="{FF2B5EF4-FFF2-40B4-BE49-F238E27FC236}">
                <a16:creationId xmlns:a16="http://schemas.microsoft.com/office/drawing/2014/main" id="{9A1B152B-35C2-3043-61A0-DEE009F7D144}"/>
              </a:ext>
            </a:extLst>
          </p:cNvPr>
          <p:cNvSpPr txBox="1"/>
          <p:nvPr/>
        </p:nvSpPr>
        <p:spPr>
          <a:xfrm>
            <a:off x="8458200" y="4838700"/>
            <a:ext cx="451104" cy="369332"/>
          </a:xfrm>
          <a:prstGeom prst="rect">
            <a:avLst/>
          </a:prstGeom>
          <a:noFill/>
        </p:spPr>
        <p:txBody>
          <a:bodyPr wrap="square" rtlCol="0">
            <a:spAutoFit/>
          </a:bodyPr>
          <a:lstStyle/>
          <a:p>
            <a:r>
              <a:rPr lang="en-GB" b="1" dirty="0">
                <a:solidFill>
                  <a:schemeClr val="bg1"/>
                </a:solidFill>
              </a:rPr>
              <a:t>12</a:t>
            </a:r>
            <a:endParaRPr lang="en-US" b="1" dirty="0">
              <a:solidFill>
                <a:schemeClr val="bg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366"/>
          </a:solidFill>
          <a:ln w="12700">
            <a:solidFill>
              <a:srgbClr val="003366"/>
            </a:solidFill>
            <a:prstDash val="solid"/>
          </a:ln>
        </p:spPr>
      </p:sp>
      <p:sp>
        <p:nvSpPr>
          <p:cNvPr id="3" name="Text 1"/>
          <p:cNvSpPr/>
          <p:nvPr/>
        </p:nvSpPr>
        <p:spPr>
          <a:xfrm>
            <a:off x="320040" y="0"/>
            <a:ext cx="8503920" cy="804672"/>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Future Recommendations &amp; Enhancements</a:t>
            </a:r>
            <a:endParaRPr lang="en-US" sz="2400" dirty="0"/>
          </a:p>
        </p:txBody>
      </p:sp>
      <p:sp>
        <p:nvSpPr>
          <p:cNvPr id="4" name="Text 2"/>
          <p:cNvSpPr/>
          <p:nvPr/>
        </p:nvSpPr>
        <p:spPr>
          <a:xfrm>
            <a:off x="320040" y="822960"/>
            <a:ext cx="8503920" cy="256032"/>
          </a:xfrm>
          <a:prstGeom prst="rect">
            <a:avLst/>
          </a:prstGeom>
          <a:noFill/>
          <a:ln/>
        </p:spPr>
        <p:txBody>
          <a:bodyPr wrap="square" rtlCol="0" anchor="ctr"/>
          <a:lstStyle/>
          <a:p>
            <a:pPr marL="0" indent="0">
              <a:buNone/>
            </a:pPr>
            <a:r>
              <a:rPr lang="en-US" b="1" dirty="0">
                <a:solidFill>
                  <a:srgbClr val="14B8A6"/>
                </a:solidFill>
                <a:latin typeface="Calibri" pitchFamily="34" charset="0"/>
                <a:ea typeface="Calibri" pitchFamily="34" charset="-122"/>
                <a:cs typeface="Calibri" pitchFamily="34" charset="-120"/>
              </a:rPr>
              <a:t>This prototype can evolve into a full production healthcare system</a:t>
            </a:r>
            <a:endParaRPr lang="en-US" b="1" dirty="0"/>
          </a:p>
        </p:txBody>
      </p:sp>
      <p:sp>
        <p:nvSpPr>
          <p:cNvPr id="5" name="Shape 3"/>
          <p:cNvSpPr/>
          <p:nvPr/>
        </p:nvSpPr>
        <p:spPr>
          <a:xfrm>
            <a:off x="365760" y="1115568"/>
            <a:ext cx="4206240" cy="1078992"/>
          </a:xfrm>
          <a:prstGeom prst="rect">
            <a:avLst/>
          </a:prstGeom>
          <a:solidFill>
            <a:srgbClr val="1A2E5A"/>
          </a:solidFill>
          <a:ln w="15240">
            <a:solidFill>
              <a:srgbClr val="0D9488"/>
            </a:solidFill>
            <a:prstDash val="solid"/>
          </a:ln>
        </p:spPr>
      </p:sp>
      <p:sp>
        <p:nvSpPr>
          <p:cNvPr id="6" name="Shape 4"/>
          <p:cNvSpPr/>
          <p:nvPr/>
        </p:nvSpPr>
        <p:spPr>
          <a:xfrm>
            <a:off x="365760" y="1115568"/>
            <a:ext cx="347472" cy="1078992"/>
          </a:xfrm>
          <a:prstGeom prst="rect">
            <a:avLst/>
          </a:prstGeom>
          <a:solidFill>
            <a:srgbClr val="0D9488"/>
          </a:solidFill>
          <a:ln w="12700">
            <a:solidFill>
              <a:srgbClr val="0D9488"/>
            </a:solidFill>
            <a:prstDash val="solid"/>
          </a:ln>
        </p:spPr>
      </p:sp>
      <p:sp>
        <p:nvSpPr>
          <p:cNvPr id="7" name="Text 5"/>
          <p:cNvSpPr/>
          <p:nvPr/>
        </p:nvSpPr>
        <p:spPr>
          <a:xfrm>
            <a:off x="402336" y="1499616"/>
            <a:ext cx="27432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8" name="Text 6"/>
          <p:cNvSpPr/>
          <p:nvPr/>
        </p:nvSpPr>
        <p:spPr>
          <a:xfrm>
            <a:off x="804672" y="1207008"/>
            <a:ext cx="3657600" cy="274320"/>
          </a:xfrm>
          <a:prstGeom prst="rect">
            <a:avLst/>
          </a:prstGeom>
          <a:noFill/>
          <a:ln/>
        </p:spPr>
        <p:txBody>
          <a:bodyPr wrap="square" lIns="0" tIns="0" rIns="0" bIns="0" rtlCol="0" anchor="ctr"/>
          <a:lstStyle/>
          <a:p>
            <a:pPr marL="0" indent="0">
              <a:buNone/>
            </a:pPr>
            <a:r>
              <a:rPr lang="en-US" b="1" dirty="0">
                <a:solidFill>
                  <a:srgbClr val="0D9488"/>
                </a:solidFill>
                <a:latin typeface="Calibri" pitchFamily="34" charset="0"/>
                <a:ea typeface="Calibri" pitchFamily="34" charset="-122"/>
                <a:cs typeface="Calibri" pitchFamily="34" charset="-120"/>
              </a:rPr>
              <a:t>Database Integration</a:t>
            </a:r>
            <a:endParaRPr lang="en-US" dirty="0"/>
          </a:p>
        </p:txBody>
      </p:sp>
      <p:sp>
        <p:nvSpPr>
          <p:cNvPr id="9" name="Text 7"/>
          <p:cNvSpPr/>
          <p:nvPr/>
        </p:nvSpPr>
        <p:spPr>
          <a:xfrm>
            <a:off x="804672" y="1527048"/>
            <a:ext cx="3657600" cy="502920"/>
          </a:xfrm>
          <a:prstGeom prst="rect">
            <a:avLst/>
          </a:prstGeom>
          <a:noFill/>
          <a:ln/>
        </p:spPr>
        <p:txBody>
          <a:bodyPr wrap="square" lIns="0" tIns="0" rIns="0" bIns="0" rtlCol="0" anchor="ctr"/>
          <a:lstStyle/>
          <a:p>
            <a:pPr marL="0" indent="0">
              <a:buNone/>
            </a:pPr>
            <a:r>
              <a:rPr lang="en-US" sz="1400" b="1" dirty="0">
                <a:solidFill>
                  <a:srgbClr val="F1F5F9"/>
                </a:solidFill>
                <a:latin typeface="Calibri" pitchFamily="34" charset="0"/>
                <a:ea typeface="Calibri" pitchFamily="34" charset="-122"/>
                <a:cs typeface="Calibri" pitchFamily="34" charset="-120"/>
              </a:rPr>
              <a:t>Replace in-memory lists with SQLite/PostgreSQL for persistent, crash-safe data storage</a:t>
            </a:r>
            <a:endParaRPr lang="en-US" sz="1400" b="1" dirty="0"/>
          </a:p>
        </p:txBody>
      </p:sp>
      <p:sp>
        <p:nvSpPr>
          <p:cNvPr id="10" name="Shape 8"/>
          <p:cNvSpPr/>
          <p:nvPr/>
        </p:nvSpPr>
        <p:spPr>
          <a:xfrm>
            <a:off x="365760" y="2350008"/>
            <a:ext cx="4206240" cy="1078992"/>
          </a:xfrm>
          <a:prstGeom prst="rect">
            <a:avLst/>
          </a:prstGeom>
          <a:solidFill>
            <a:srgbClr val="1A2E5A"/>
          </a:solidFill>
          <a:ln w="15240">
            <a:solidFill>
              <a:srgbClr val="1D6FA4"/>
            </a:solidFill>
            <a:prstDash val="solid"/>
          </a:ln>
        </p:spPr>
      </p:sp>
      <p:sp>
        <p:nvSpPr>
          <p:cNvPr id="11" name="Shape 9"/>
          <p:cNvSpPr/>
          <p:nvPr/>
        </p:nvSpPr>
        <p:spPr>
          <a:xfrm>
            <a:off x="365760" y="2350008"/>
            <a:ext cx="347472" cy="1078992"/>
          </a:xfrm>
          <a:prstGeom prst="rect">
            <a:avLst/>
          </a:prstGeom>
          <a:solidFill>
            <a:srgbClr val="1D6FA4"/>
          </a:solidFill>
          <a:ln w="12700">
            <a:solidFill>
              <a:srgbClr val="1D6FA4"/>
            </a:solidFill>
            <a:prstDash val="solid"/>
          </a:ln>
        </p:spPr>
      </p:sp>
      <p:sp>
        <p:nvSpPr>
          <p:cNvPr id="12" name="Text 10"/>
          <p:cNvSpPr/>
          <p:nvPr/>
        </p:nvSpPr>
        <p:spPr>
          <a:xfrm>
            <a:off x="402336" y="2734056"/>
            <a:ext cx="27432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3" name="Text 11"/>
          <p:cNvSpPr/>
          <p:nvPr/>
        </p:nvSpPr>
        <p:spPr>
          <a:xfrm>
            <a:off x="804672" y="2441448"/>
            <a:ext cx="3657600" cy="274320"/>
          </a:xfrm>
          <a:prstGeom prst="rect">
            <a:avLst/>
          </a:prstGeom>
          <a:noFill/>
          <a:ln/>
        </p:spPr>
        <p:txBody>
          <a:bodyPr wrap="square" lIns="0" tIns="0" rIns="0" bIns="0" rtlCol="0" anchor="ctr"/>
          <a:lstStyle/>
          <a:p>
            <a:pPr marL="0" indent="0">
              <a:buNone/>
            </a:pPr>
            <a:r>
              <a:rPr lang="en-US" b="1" dirty="0">
                <a:solidFill>
                  <a:srgbClr val="1D6FA4"/>
                </a:solidFill>
                <a:latin typeface="Calibri" pitchFamily="34" charset="0"/>
                <a:ea typeface="Calibri" pitchFamily="34" charset="-122"/>
                <a:cs typeface="Calibri" pitchFamily="34" charset="-120"/>
              </a:rPr>
              <a:t>User Authentication</a:t>
            </a:r>
            <a:endParaRPr lang="en-US" dirty="0"/>
          </a:p>
        </p:txBody>
      </p:sp>
      <p:sp>
        <p:nvSpPr>
          <p:cNvPr id="14" name="Text 12"/>
          <p:cNvSpPr/>
          <p:nvPr/>
        </p:nvSpPr>
        <p:spPr>
          <a:xfrm>
            <a:off x="804672" y="2761488"/>
            <a:ext cx="3657600" cy="502920"/>
          </a:xfrm>
          <a:prstGeom prst="rect">
            <a:avLst/>
          </a:prstGeom>
          <a:noFill/>
          <a:ln/>
        </p:spPr>
        <p:txBody>
          <a:bodyPr wrap="square" lIns="0" tIns="0" rIns="0" bIns="0" rtlCol="0" anchor="ctr"/>
          <a:lstStyle/>
          <a:p>
            <a:pPr marL="0" indent="0">
              <a:buNone/>
            </a:pPr>
            <a:r>
              <a:rPr lang="en-US" sz="1400" b="1" dirty="0">
                <a:solidFill>
                  <a:srgbClr val="F1F5F9"/>
                </a:solidFill>
                <a:latin typeface="Calibri" pitchFamily="34" charset="0"/>
                <a:ea typeface="Calibri" pitchFamily="34" charset="-122"/>
                <a:cs typeface="Calibri" pitchFamily="34" charset="-120"/>
              </a:rPr>
              <a:t>Role-based access: receptionists register patients; only doctors issue prescriptions</a:t>
            </a:r>
            <a:endParaRPr lang="en-US" sz="1400" b="1" dirty="0"/>
          </a:p>
        </p:txBody>
      </p:sp>
      <p:sp>
        <p:nvSpPr>
          <p:cNvPr id="15" name="Shape 13"/>
          <p:cNvSpPr/>
          <p:nvPr/>
        </p:nvSpPr>
        <p:spPr>
          <a:xfrm>
            <a:off x="365760" y="3584448"/>
            <a:ext cx="4206240" cy="1078992"/>
          </a:xfrm>
          <a:prstGeom prst="rect">
            <a:avLst/>
          </a:prstGeom>
          <a:solidFill>
            <a:srgbClr val="1A2E5A"/>
          </a:solidFill>
          <a:ln w="15240">
            <a:solidFill>
              <a:srgbClr val="D97706"/>
            </a:solidFill>
            <a:prstDash val="solid"/>
          </a:ln>
        </p:spPr>
      </p:sp>
      <p:sp>
        <p:nvSpPr>
          <p:cNvPr id="16" name="Shape 14"/>
          <p:cNvSpPr/>
          <p:nvPr/>
        </p:nvSpPr>
        <p:spPr>
          <a:xfrm>
            <a:off x="365760" y="3584448"/>
            <a:ext cx="347472" cy="1078992"/>
          </a:xfrm>
          <a:prstGeom prst="rect">
            <a:avLst/>
          </a:prstGeom>
          <a:solidFill>
            <a:srgbClr val="D97706"/>
          </a:solidFill>
          <a:ln w="12700">
            <a:solidFill>
              <a:srgbClr val="D97706"/>
            </a:solidFill>
            <a:prstDash val="solid"/>
          </a:ln>
        </p:spPr>
      </p:sp>
      <p:sp>
        <p:nvSpPr>
          <p:cNvPr id="17" name="Text 15"/>
          <p:cNvSpPr/>
          <p:nvPr/>
        </p:nvSpPr>
        <p:spPr>
          <a:xfrm>
            <a:off x="402336" y="3968496"/>
            <a:ext cx="27432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8" name="Text 16"/>
          <p:cNvSpPr/>
          <p:nvPr/>
        </p:nvSpPr>
        <p:spPr>
          <a:xfrm>
            <a:off x="804672" y="3675888"/>
            <a:ext cx="3657600" cy="274320"/>
          </a:xfrm>
          <a:prstGeom prst="rect">
            <a:avLst/>
          </a:prstGeom>
          <a:noFill/>
          <a:ln/>
        </p:spPr>
        <p:txBody>
          <a:bodyPr wrap="square" lIns="0" tIns="0" rIns="0" bIns="0" rtlCol="0" anchor="ctr"/>
          <a:lstStyle/>
          <a:p>
            <a:pPr marL="0" indent="0">
              <a:buNone/>
            </a:pPr>
            <a:r>
              <a:rPr lang="en-US" b="1" dirty="0">
                <a:solidFill>
                  <a:srgbClr val="D97706"/>
                </a:solidFill>
                <a:latin typeface="Calibri" pitchFamily="34" charset="0"/>
                <a:ea typeface="Calibri" pitchFamily="34" charset="-122"/>
                <a:cs typeface="Calibri" pitchFamily="34" charset="-120"/>
              </a:rPr>
              <a:t>Electronic Medical Records</a:t>
            </a:r>
            <a:endParaRPr lang="en-US" dirty="0"/>
          </a:p>
        </p:txBody>
      </p:sp>
      <p:sp>
        <p:nvSpPr>
          <p:cNvPr id="19" name="Text 17"/>
          <p:cNvSpPr/>
          <p:nvPr/>
        </p:nvSpPr>
        <p:spPr>
          <a:xfrm>
            <a:off x="804672" y="3995928"/>
            <a:ext cx="3657600" cy="502920"/>
          </a:xfrm>
          <a:prstGeom prst="rect">
            <a:avLst/>
          </a:prstGeom>
          <a:noFill/>
          <a:ln/>
        </p:spPr>
        <p:txBody>
          <a:bodyPr wrap="square" lIns="0" tIns="0" rIns="0" bIns="0" rtlCol="0" anchor="ctr"/>
          <a:lstStyle/>
          <a:p>
            <a:pPr marL="0" indent="0">
              <a:buNone/>
            </a:pPr>
            <a:r>
              <a:rPr lang="en-US" sz="1400" b="1" dirty="0">
                <a:solidFill>
                  <a:srgbClr val="F1F5F9"/>
                </a:solidFill>
                <a:latin typeface="Calibri" pitchFamily="34" charset="0"/>
                <a:ea typeface="Calibri" pitchFamily="34" charset="-122"/>
                <a:cs typeface="Calibri" pitchFamily="34" charset="-120"/>
              </a:rPr>
              <a:t>Add diagnosis notes, lab results, and clinical history per patient visit</a:t>
            </a:r>
            <a:endParaRPr lang="en-US" sz="1400" b="1" dirty="0"/>
          </a:p>
        </p:txBody>
      </p:sp>
      <p:sp>
        <p:nvSpPr>
          <p:cNvPr id="20" name="Shape 18"/>
          <p:cNvSpPr/>
          <p:nvPr/>
        </p:nvSpPr>
        <p:spPr>
          <a:xfrm>
            <a:off x="4754880" y="1115568"/>
            <a:ext cx="4206240" cy="1078992"/>
          </a:xfrm>
          <a:prstGeom prst="rect">
            <a:avLst/>
          </a:prstGeom>
          <a:solidFill>
            <a:srgbClr val="1A2E5A"/>
          </a:solidFill>
          <a:ln w="15240">
            <a:solidFill>
              <a:srgbClr val="16A34A"/>
            </a:solidFill>
            <a:prstDash val="solid"/>
          </a:ln>
        </p:spPr>
      </p:sp>
      <p:sp>
        <p:nvSpPr>
          <p:cNvPr id="21" name="Shape 19"/>
          <p:cNvSpPr/>
          <p:nvPr/>
        </p:nvSpPr>
        <p:spPr>
          <a:xfrm>
            <a:off x="4754880" y="1115568"/>
            <a:ext cx="347472" cy="1078992"/>
          </a:xfrm>
          <a:prstGeom prst="rect">
            <a:avLst/>
          </a:prstGeom>
          <a:solidFill>
            <a:srgbClr val="16A34A"/>
          </a:solidFill>
          <a:ln w="12700">
            <a:solidFill>
              <a:srgbClr val="16A34A"/>
            </a:solidFill>
            <a:prstDash val="solid"/>
          </a:ln>
        </p:spPr>
      </p:sp>
      <p:sp>
        <p:nvSpPr>
          <p:cNvPr id="22" name="Text 20"/>
          <p:cNvSpPr/>
          <p:nvPr/>
        </p:nvSpPr>
        <p:spPr>
          <a:xfrm>
            <a:off x="4791456" y="1499616"/>
            <a:ext cx="27432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3" name="Text 21"/>
          <p:cNvSpPr/>
          <p:nvPr/>
        </p:nvSpPr>
        <p:spPr>
          <a:xfrm>
            <a:off x="5193792" y="1207008"/>
            <a:ext cx="3657600" cy="274320"/>
          </a:xfrm>
          <a:prstGeom prst="rect">
            <a:avLst/>
          </a:prstGeom>
          <a:noFill/>
          <a:ln/>
        </p:spPr>
        <p:txBody>
          <a:bodyPr wrap="square" lIns="0" tIns="0" rIns="0" bIns="0" rtlCol="0" anchor="ctr"/>
          <a:lstStyle/>
          <a:p>
            <a:pPr marL="0" indent="0">
              <a:buNone/>
            </a:pPr>
            <a:r>
              <a:rPr lang="en-US" b="1" dirty="0">
                <a:solidFill>
                  <a:srgbClr val="16A34A"/>
                </a:solidFill>
                <a:latin typeface="Calibri" pitchFamily="34" charset="0"/>
                <a:ea typeface="Calibri" pitchFamily="34" charset="-122"/>
                <a:cs typeface="Calibri" pitchFamily="34" charset="-120"/>
              </a:rPr>
              <a:t>SMS/Email Notifications</a:t>
            </a:r>
            <a:endParaRPr lang="en-US" dirty="0"/>
          </a:p>
        </p:txBody>
      </p:sp>
      <p:sp>
        <p:nvSpPr>
          <p:cNvPr id="24" name="Text 22"/>
          <p:cNvSpPr/>
          <p:nvPr/>
        </p:nvSpPr>
        <p:spPr>
          <a:xfrm>
            <a:off x="5193792" y="1527048"/>
            <a:ext cx="3657600" cy="502920"/>
          </a:xfrm>
          <a:prstGeom prst="rect">
            <a:avLst/>
          </a:prstGeom>
          <a:noFill/>
          <a:ln/>
        </p:spPr>
        <p:txBody>
          <a:bodyPr wrap="square" lIns="0" tIns="0" rIns="0" bIns="0" rtlCol="0" anchor="ctr"/>
          <a:lstStyle/>
          <a:p>
            <a:pPr marL="0" indent="0">
              <a:buNone/>
            </a:pPr>
            <a:r>
              <a:rPr lang="en-US" sz="1400" b="1" dirty="0">
                <a:solidFill>
                  <a:srgbClr val="F1F5F9"/>
                </a:solidFill>
                <a:latin typeface="Calibri" pitchFamily="34" charset="0"/>
                <a:ea typeface="Calibri" pitchFamily="34" charset="-122"/>
                <a:cs typeface="Calibri" pitchFamily="34" charset="-120"/>
              </a:rPr>
              <a:t>Auto-send appointment reminders via Twilio SMS or SendGrid email API</a:t>
            </a:r>
            <a:endParaRPr lang="en-US" sz="1400" b="1" dirty="0"/>
          </a:p>
        </p:txBody>
      </p:sp>
      <p:sp>
        <p:nvSpPr>
          <p:cNvPr id="25" name="Shape 23"/>
          <p:cNvSpPr/>
          <p:nvPr/>
        </p:nvSpPr>
        <p:spPr>
          <a:xfrm>
            <a:off x="4754880" y="2350008"/>
            <a:ext cx="4206240" cy="1078992"/>
          </a:xfrm>
          <a:prstGeom prst="rect">
            <a:avLst/>
          </a:prstGeom>
          <a:solidFill>
            <a:srgbClr val="1A2E5A"/>
          </a:solidFill>
          <a:ln w="15240">
            <a:solidFill>
              <a:srgbClr val="DC2626"/>
            </a:solidFill>
            <a:prstDash val="solid"/>
          </a:ln>
        </p:spPr>
      </p:sp>
      <p:sp>
        <p:nvSpPr>
          <p:cNvPr id="26" name="Shape 24"/>
          <p:cNvSpPr/>
          <p:nvPr/>
        </p:nvSpPr>
        <p:spPr>
          <a:xfrm>
            <a:off x="4754880" y="2350008"/>
            <a:ext cx="347472" cy="1078992"/>
          </a:xfrm>
          <a:prstGeom prst="rect">
            <a:avLst/>
          </a:prstGeom>
          <a:solidFill>
            <a:srgbClr val="DC2626"/>
          </a:solidFill>
          <a:ln w="12700">
            <a:solidFill>
              <a:srgbClr val="DC2626"/>
            </a:solidFill>
            <a:prstDash val="solid"/>
          </a:ln>
        </p:spPr>
      </p:sp>
      <p:sp>
        <p:nvSpPr>
          <p:cNvPr id="27" name="Text 25"/>
          <p:cNvSpPr/>
          <p:nvPr/>
        </p:nvSpPr>
        <p:spPr>
          <a:xfrm>
            <a:off x="4791456" y="2734056"/>
            <a:ext cx="27432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28" name="Text 26"/>
          <p:cNvSpPr/>
          <p:nvPr/>
        </p:nvSpPr>
        <p:spPr>
          <a:xfrm>
            <a:off x="5193792" y="2441448"/>
            <a:ext cx="3657600" cy="274320"/>
          </a:xfrm>
          <a:prstGeom prst="rect">
            <a:avLst/>
          </a:prstGeom>
          <a:noFill/>
          <a:ln/>
        </p:spPr>
        <p:txBody>
          <a:bodyPr wrap="square" lIns="0" tIns="0" rIns="0" bIns="0" rtlCol="0" anchor="ctr"/>
          <a:lstStyle/>
          <a:p>
            <a:pPr marL="0" indent="0">
              <a:buNone/>
            </a:pPr>
            <a:r>
              <a:rPr lang="en-US" b="1" dirty="0">
                <a:solidFill>
                  <a:srgbClr val="DC2626"/>
                </a:solidFill>
                <a:latin typeface="Calibri" pitchFamily="34" charset="0"/>
                <a:ea typeface="Calibri" pitchFamily="34" charset="-122"/>
                <a:cs typeface="Calibri" pitchFamily="34" charset="-120"/>
              </a:rPr>
              <a:t>Web Application</a:t>
            </a:r>
            <a:endParaRPr lang="en-US" dirty="0"/>
          </a:p>
        </p:txBody>
      </p:sp>
      <p:sp>
        <p:nvSpPr>
          <p:cNvPr id="29" name="Text 27"/>
          <p:cNvSpPr/>
          <p:nvPr/>
        </p:nvSpPr>
        <p:spPr>
          <a:xfrm>
            <a:off x="5193792" y="2761488"/>
            <a:ext cx="3657600" cy="502920"/>
          </a:xfrm>
          <a:prstGeom prst="rect">
            <a:avLst/>
          </a:prstGeom>
          <a:noFill/>
          <a:ln/>
        </p:spPr>
        <p:txBody>
          <a:bodyPr wrap="square" lIns="0" tIns="0" rIns="0" bIns="0" rtlCol="0" anchor="ctr"/>
          <a:lstStyle/>
          <a:p>
            <a:pPr marL="0" indent="0">
              <a:buNone/>
            </a:pPr>
            <a:r>
              <a:rPr lang="en-US" sz="1400" b="1" dirty="0">
                <a:solidFill>
                  <a:srgbClr val="F1F5F9"/>
                </a:solidFill>
                <a:latin typeface="Calibri" pitchFamily="34" charset="0"/>
                <a:ea typeface="Calibri" pitchFamily="34" charset="-122"/>
                <a:cs typeface="Calibri" pitchFamily="34" charset="-120"/>
              </a:rPr>
              <a:t>Port to Flask/Django for multi-user browser access without Jupyter requirement</a:t>
            </a:r>
            <a:endParaRPr lang="en-US" sz="1400" b="1" dirty="0"/>
          </a:p>
        </p:txBody>
      </p:sp>
      <p:sp>
        <p:nvSpPr>
          <p:cNvPr id="30" name="Shape 28"/>
          <p:cNvSpPr/>
          <p:nvPr/>
        </p:nvSpPr>
        <p:spPr>
          <a:xfrm>
            <a:off x="4754880" y="3584448"/>
            <a:ext cx="4206240" cy="1078992"/>
          </a:xfrm>
          <a:prstGeom prst="rect">
            <a:avLst/>
          </a:prstGeom>
          <a:solidFill>
            <a:srgbClr val="1A2E5A"/>
          </a:solidFill>
          <a:ln w="15240">
            <a:solidFill>
              <a:srgbClr val="F59E0B"/>
            </a:solidFill>
            <a:prstDash val="solid"/>
          </a:ln>
        </p:spPr>
      </p:sp>
      <p:sp>
        <p:nvSpPr>
          <p:cNvPr id="31" name="Shape 29"/>
          <p:cNvSpPr/>
          <p:nvPr/>
        </p:nvSpPr>
        <p:spPr>
          <a:xfrm>
            <a:off x="4754880" y="3584448"/>
            <a:ext cx="347472" cy="1078992"/>
          </a:xfrm>
          <a:prstGeom prst="rect">
            <a:avLst/>
          </a:prstGeom>
          <a:solidFill>
            <a:srgbClr val="F59E0B"/>
          </a:solidFill>
          <a:ln w="12700">
            <a:solidFill>
              <a:srgbClr val="F59E0B"/>
            </a:solidFill>
            <a:prstDash val="solid"/>
          </a:ln>
        </p:spPr>
      </p:sp>
      <p:sp>
        <p:nvSpPr>
          <p:cNvPr id="32" name="Text 30"/>
          <p:cNvSpPr/>
          <p:nvPr/>
        </p:nvSpPr>
        <p:spPr>
          <a:xfrm>
            <a:off x="4791456" y="3968496"/>
            <a:ext cx="27432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33" name="Text 31"/>
          <p:cNvSpPr/>
          <p:nvPr/>
        </p:nvSpPr>
        <p:spPr>
          <a:xfrm>
            <a:off x="5193792" y="3675888"/>
            <a:ext cx="3657600" cy="274320"/>
          </a:xfrm>
          <a:prstGeom prst="rect">
            <a:avLst/>
          </a:prstGeom>
          <a:noFill/>
          <a:ln/>
        </p:spPr>
        <p:txBody>
          <a:bodyPr wrap="square" lIns="0" tIns="0" rIns="0" bIns="0" rtlCol="0" anchor="ctr"/>
          <a:lstStyle/>
          <a:p>
            <a:pPr marL="0" indent="0">
              <a:buNone/>
            </a:pPr>
            <a:r>
              <a:rPr lang="en-US" b="1" dirty="0">
                <a:solidFill>
                  <a:srgbClr val="F59E0B"/>
                </a:solidFill>
                <a:latin typeface="Calibri" pitchFamily="34" charset="0"/>
                <a:ea typeface="Calibri" pitchFamily="34" charset="-122"/>
                <a:cs typeface="Calibri" pitchFamily="34" charset="-120"/>
              </a:rPr>
              <a:t>HL7 FHIR Compliance</a:t>
            </a:r>
            <a:endParaRPr lang="en-US" dirty="0"/>
          </a:p>
        </p:txBody>
      </p:sp>
      <p:sp>
        <p:nvSpPr>
          <p:cNvPr id="34" name="Text 32"/>
          <p:cNvSpPr/>
          <p:nvPr/>
        </p:nvSpPr>
        <p:spPr>
          <a:xfrm>
            <a:off x="5193792" y="3995928"/>
            <a:ext cx="3657600" cy="502920"/>
          </a:xfrm>
          <a:prstGeom prst="rect">
            <a:avLst/>
          </a:prstGeom>
          <a:noFill/>
          <a:ln/>
        </p:spPr>
        <p:txBody>
          <a:bodyPr wrap="square" lIns="0" tIns="0" rIns="0" bIns="0" rtlCol="0" anchor="ctr"/>
          <a:lstStyle/>
          <a:p>
            <a:pPr marL="0" indent="0">
              <a:buNone/>
            </a:pPr>
            <a:r>
              <a:rPr lang="en-US" sz="1400" b="1" dirty="0">
                <a:solidFill>
                  <a:srgbClr val="F1F5F9"/>
                </a:solidFill>
                <a:latin typeface="Calibri" pitchFamily="34" charset="0"/>
                <a:ea typeface="Calibri" pitchFamily="34" charset="-122"/>
                <a:cs typeface="Calibri" pitchFamily="34" charset="-120"/>
              </a:rPr>
              <a:t>Implement international healthcare data standards for Nigeria's NHIA integration</a:t>
            </a:r>
            <a:endParaRPr lang="en-US" sz="1400" b="1" dirty="0"/>
          </a:p>
        </p:txBody>
      </p:sp>
      <p:sp>
        <p:nvSpPr>
          <p:cNvPr id="35" name="TextBox 34">
            <a:extLst>
              <a:ext uri="{FF2B5EF4-FFF2-40B4-BE49-F238E27FC236}">
                <a16:creationId xmlns:a16="http://schemas.microsoft.com/office/drawing/2014/main" id="{344C85CE-BCEB-B574-DDAF-B10CB54B2533}"/>
              </a:ext>
            </a:extLst>
          </p:cNvPr>
          <p:cNvSpPr txBox="1"/>
          <p:nvPr/>
        </p:nvSpPr>
        <p:spPr>
          <a:xfrm>
            <a:off x="8458200" y="4838700"/>
            <a:ext cx="451104" cy="369332"/>
          </a:xfrm>
          <a:prstGeom prst="rect">
            <a:avLst/>
          </a:prstGeom>
          <a:noFill/>
        </p:spPr>
        <p:txBody>
          <a:bodyPr wrap="square" rtlCol="0">
            <a:spAutoFit/>
          </a:bodyPr>
          <a:lstStyle/>
          <a:p>
            <a:r>
              <a:rPr lang="en-GB" b="1" dirty="0">
                <a:solidFill>
                  <a:schemeClr val="bg1"/>
                </a:solidFill>
              </a:rPr>
              <a:t>13</a:t>
            </a:r>
            <a:endParaRPr lang="en-US" b="1" dirty="0">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46304" cy="5143500"/>
          </a:xfrm>
          <a:prstGeom prst="rect">
            <a:avLst/>
          </a:prstGeom>
          <a:solidFill>
            <a:srgbClr val="0D9488"/>
          </a:solidFill>
          <a:ln w="12700">
            <a:solidFill>
              <a:srgbClr val="0D9488"/>
            </a:solidFill>
            <a:prstDash val="solid"/>
          </a:ln>
        </p:spPr>
      </p:sp>
      <p:sp>
        <p:nvSpPr>
          <p:cNvPr id="3" name="Shape 1"/>
          <p:cNvSpPr/>
          <p:nvPr/>
        </p:nvSpPr>
        <p:spPr>
          <a:xfrm>
            <a:off x="146304" y="5029200"/>
            <a:ext cx="8997696" cy="114300"/>
          </a:xfrm>
          <a:prstGeom prst="rect">
            <a:avLst/>
          </a:prstGeom>
          <a:solidFill>
            <a:srgbClr val="14B8A6"/>
          </a:solidFill>
          <a:ln w="12700">
            <a:solidFill>
              <a:srgbClr val="14B8A6"/>
            </a:solidFill>
            <a:prstDash val="solid"/>
          </a:ln>
        </p:spPr>
      </p:sp>
      <p:sp>
        <p:nvSpPr>
          <p:cNvPr id="4" name="Text 2"/>
          <p:cNvSpPr/>
          <p:nvPr/>
        </p:nvSpPr>
        <p:spPr>
          <a:xfrm>
            <a:off x="365760" y="822960"/>
            <a:ext cx="8412480" cy="5029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PROJECT SUMMARY</a:t>
            </a:r>
            <a:endParaRPr lang="en-US" sz="3000" dirty="0"/>
          </a:p>
        </p:txBody>
      </p:sp>
      <p:sp>
        <p:nvSpPr>
          <p:cNvPr id="5" name="Text 3"/>
          <p:cNvSpPr/>
          <p:nvPr/>
        </p:nvSpPr>
        <p:spPr>
          <a:xfrm>
            <a:off x="365760" y="1325880"/>
            <a:ext cx="8412480" cy="320040"/>
          </a:xfrm>
          <a:prstGeom prst="rect">
            <a:avLst/>
          </a:prstGeom>
          <a:noFill/>
          <a:ln/>
        </p:spPr>
        <p:txBody>
          <a:bodyPr wrap="square" rtlCol="0" anchor="ctr"/>
          <a:lstStyle/>
          <a:p>
            <a:pPr marL="0" indent="0">
              <a:buNone/>
            </a:pPr>
            <a:r>
              <a:rPr lang="en-US" b="1" dirty="0">
                <a:solidFill>
                  <a:srgbClr val="14B8A6"/>
                </a:solidFill>
                <a:latin typeface="Calibri" pitchFamily="34" charset="0"/>
                <a:ea typeface="Calibri" pitchFamily="34" charset="-122"/>
                <a:cs typeface="Calibri" pitchFamily="34" charset="-120"/>
              </a:rPr>
              <a:t>GUI-Based Patient Management System — LUTH  |  Group 1</a:t>
            </a:r>
            <a:endParaRPr lang="en-US" b="1" dirty="0"/>
          </a:p>
        </p:txBody>
      </p:sp>
      <p:sp>
        <p:nvSpPr>
          <p:cNvPr id="6" name="Shape 4"/>
          <p:cNvSpPr/>
          <p:nvPr/>
        </p:nvSpPr>
        <p:spPr>
          <a:xfrm>
            <a:off x="365760" y="1737360"/>
            <a:ext cx="2743200" cy="36576"/>
          </a:xfrm>
          <a:prstGeom prst="rect">
            <a:avLst/>
          </a:prstGeom>
          <a:solidFill>
            <a:srgbClr val="0D9488"/>
          </a:solidFill>
          <a:ln w="12700">
            <a:solidFill>
              <a:srgbClr val="0D9488"/>
            </a:solidFill>
            <a:prstDash val="solid"/>
          </a:ln>
        </p:spPr>
      </p:sp>
      <p:sp>
        <p:nvSpPr>
          <p:cNvPr id="7" name="Shape 5"/>
          <p:cNvSpPr/>
          <p:nvPr/>
        </p:nvSpPr>
        <p:spPr>
          <a:xfrm>
            <a:off x="365760" y="1920240"/>
            <a:ext cx="1920240" cy="1005840"/>
          </a:xfrm>
          <a:prstGeom prst="rect">
            <a:avLst/>
          </a:prstGeom>
          <a:solidFill>
            <a:srgbClr val="1A2E5A"/>
          </a:solidFill>
          <a:ln w="19050">
            <a:solidFill>
              <a:srgbClr val="0D9488"/>
            </a:solidFill>
            <a:prstDash val="solid"/>
          </a:ln>
          <a:effectLst>
            <a:outerShdw blurRad="63500" dist="25400" dir="8100000" algn="bl" rotWithShape="0">
              <a:srgbClr val="000000">
                <a:alpha val="22000"/>
              </a:srgbClr>
            </a:outerShdw>
          </a:effectLst>
        </p:spPr>
      </p:sp>
      <p:sp>
        <p:nvSpPr>
          <p:cNvPr id="8" name="Text 6"/>
          <p:cNvSpPr/>
          <p:nvPr/>
        </p:nvSpPr>
        <p:spPr>
          <a:xfrm>
            <a:off x="365760" y="1975104"/>
            <a:ext cx="1920240" cy="563270"/>
          </a:xfrm>
          <a:prstGeom prst="rect">
            <a:avLst/>
          </a:prstGeom>
          <a:noFill/>
          <a:ln/>
        </p:spPr>
        <p:txBody>
          <a:bodyPr wrap="square" lIns="0" tIns="0" rIns="0" bIns="0" rtlCol="0" anchor="ctr"/>
          <a:lstStyle/>
          <a:p>
            <a:pPr marL="0" indent="0" algn="ctr">
              <a:buNone/>
            </a:pPr>
            <a:r>
              <a:rPr lang="en-US" sz="2200" b="1" dirty="0">
                <a:solidFill>
                  <a:srgbClr val="0D9488"/>
                </a:solidFill>
                <a:latin typeface="Calibri" pitchFamily="34" charset="0"/>
                <a:ea typeface="Calibri" pitchFamily="34" charset="-122"/>
                <a:cs typeface="Calibri" pitchFamily="34" charset="-120"/>
              </a:rPr>
              <a:t>4</a:t>
            </a:r>
            <a:endParaRPr lang="en-US" sz="2200" dirty="0"/>
          </a:p>
        </p:txBody>
      </p:sp>
      <p:sp>
        <p:nvSpPr>
          <p:cNvPr id="9" name="Text 7"/>
          <p:cNvSpPr/>
          <p:nvPr/>
        </p:nvSpPr>
        <p:spPr>
          <a:xfrm>
            <a:off x="365760" y="2473452"/>
            <a:ext cx="1920240" cy="402336"/>
          </a:xfrm>
          <a:prstGeom prst="rect">
            <a:avLst/>
          </a:prstGeom>
          <a:noFill/>
          <a:ln/>
        </p:spPr>
        <p:txBody>
          <a:bodyPr wrap="square" lIns="0" tIns="0" rIns="0" bIns="0" rtlCol="0" anchor="ctr"/>
          <a:lstStyle/>
          <a:p>
            <a:pPr marL="0" indent="0" algn="ctr">
              <a:buNone/>
            </a:pPr>
            <a:r>
              <a:rPr lang="en-US" sz="1400" b="1" dirty="0">
                <a:solidFill>
                  <a:srgbClr val="94A3B8"/>
                </a:solidFill>
                <a:latin typeface="Calibri" pitchFamily="34" charset="0"/>
                <a:ea typeface="Calibri" pitchFamily="34" charset="-122"/>
                <a:cs typeface="Calibri" pitchFamily="34" charset="-120"/>
              </a:rPr>
              <a:t>GUI Tabs</a:t>
            </a:r>
            <a:endParaRPr lang="en-US" sz="1400" b="1" dirty="0"/>
          </a:p>
        </p:txBody>
      </p:sp>
      <p:sp>
        <p:nvSpPr>
          <p:cNvPr id="10" name="Shape 8"/>
          <p:cNvSpPr/>
          <p:nvPr/>
        </p:nvSpPr>
        <p:spPr>
          <a:xfrm>
            <a:off x="2487168" y="1920240"/>
            <a:ext cx="1920240" cy="1005840"/>
          </a:xfrm>
          <a:prstGeom prst="rect">
            <a:avLst/>
          </a:prstGeom>
          <a:solidFill>
            <a:srgbClr val="1A2E5A"/>
          </a:solidFill>
          <a:ln w="19050">
            <a:solidFill>
              <a:srgbClr val="0D9488"/>
            </a:solidFill>
            <a:prstDash val="solid"/>
          </a:ln>
          <a:effectLst>
            <a:outerShdw blurRad="63500" dist="25400" dir="8100000" algn="bl" rotWithShape="0">
              <a:srgbClr val="000000">
                <a:alpha val="22000"/>
              </a:srgbClr>
            </a:outerShdw>
          </a:effectLst>
        </p:spPr>
      </p:sp>
      <p:sp>
        <p:nvSpPr>
          <p:cNvPr id="11" name="Text 9"/>
          <p:cNvSpPr/>
          <p:nvPr/>
        </p:nvSpPr>
        <p:spPr>
          <a:xfrm>
            <a:off x="2487168" y="1975104"/>
            <a:ext cx="1920240" cy="563270"/>
          </a:xfrm>
          <a:prstGeom prst="rect">
            <a:avLst/>
          </a:prstGeom>
          <a:noFill/>
          <a:ln/>
        </p:spPr>
        <p:txBody>
          <a:bodyPr wrap="square" lIns="0" tIns="0" rIns="0" bIns="0" rtlCol="0" anchor="ctr"/>
          <a:lstStyle/>
          <a:p>
            <a:pPr marL="0" indent="0" algn="ctr">
              <a:buNone/>
            </a:pPr>
            <a:r>
              <a:rPr lang="en-US" sz="2200" b="1" dirty="0">
                <a:solidFill>
                  <a:srgbClr val="0D9488"/>
                </a:solidFill>
                <a:latin typeface="Calibri" pitchFamily="34" charset="0"/>
                <a:ea typeface="Calibri" pitchFamily="34" charset="-122"/>
                <a:cs typeface="Calibri" pitchFamily="34" charset="-120"/>
              </a:rPr>
              <a:t>3</a:t>
            </a:r>
            <a:endParaRPr lang="en-US" sz="2200" dirty="0"/>
          </a:p>
        </p:txBody>
      </p:sp>
      <p:sp>
        <p:nvSpPr>
          <p:cNvPr id="12" name="Text 10"/>
          <p:cNvSpPr/>
          <p:nvPr/>
        </p:nvSpPr>
        <p:spPr>
          <a:xfrm>
            <a:off x="2487168" y="2473452"/>
            <a:ext cx="1920240" cy="402336"/>
          </a:xfrm>
          <a:prstGeom prst="rect">
            <a:avLst/>
          </a:prstGeom>
          <a:noFill/>
          <a:ln/>
        </p:spPr>
        <p:txBody>
          <a:bodyPr wrap="square" lIns="0" tIns="0" rIns="0" bIns="0" rtlCol="0" anchor="ctr"/>
          <a:lstStyle/>
          <a:p>
            <a:pPr marL="0" indent="0" algn="ctr">
              <a:buNone/>
            </a:pPr>
            <a:r>
              <a:rPr lang="en-US" sz="1400" b="1" dirty="0">
                <a:solidFill>
                  <a:srgbClr val="94A3B8"/>
                </a:solidFill>
                <a:latin typeface="Calibri" pitchFamily="34" charset="0"/>
                <a:ea typeface="Calibri" pitchFamily="34" charset="-122"/>
                <a:cs typeface="Calibri" pitchFamily="34" charset="-120"/>
              </a:rPr>
              <a:t>Sample Patients</a:t>
            </a:r>
            <a:endParaRPr lang="en-US" sz="1400" b="1" dirty="0"/>
          </a:p>
        </p:txBody>
      </p:sp>
      <p:sp>
        <p:nvSpPr>
          <p:cNvPr id="13" name="Shape 11"/>
          <p:cNvSpPr/>
          <p:nvPr/>
        </p:nvSpPr>
        <p:spPr>
          <a:xfrm>
            <a:off x="4608576" y="1920240"/>
            <a:ext cx="1920240" cy="1005840"/>
          </a:xfrm>
          <a:prstGeom prst="rect">
            <a:avLst/>
          </a:prstGeom>
          <a:solidFill>
            <a:srgbClr val="1A2E5A"/>
          </a:solidFill>
          <a:ln w="19050">
            <a:solidFill>
              <a:srgbClr val="0D9488"/>
            </a:solidFill>
            <a:prstDash val="solid"/>
          </a:ln>
          <a:effectLst>
            <a:outerShdw blurRad="63500" dist="25400" dir="8100000" algn="bl" rotWithShape="0">
              <a:srgbClr val="000000">
                <a:alpha val="22000"/>
              </a:srgbClr>
            </a:outerShdw>
          </a:effectLst>
        </p:spPr>
      </p:sp>
      <p:sp>
        <p:nvSpPr>
          <p:cNvPr id="14" name="Text 12"/>
          <p:cNvSpPr/>
          <p:nvPr/>
        </p:nvSpPr>
        <p:spPr>
          <a:xfrm>
            <a:off x="4608576" y="1975104"/>
            <a:ext cx="1920240" cy="563270"/>
          </a:xfrm>
          <a:prstGeom prst="rect">
            <a:avLst/>
          </a:prstGeom>
          <a:noFill/>
          <a:ln/>
        </p:spPr>
        <p:txBody>
          <a:bodyPr wrap="square" lIns="0" tIns="0" rIns="0" bIns="0" rtlCol="0" anchor="ctr"/>
          <a:lstStyle/>
          <a:p>
            <a:pPr marL="0" indent="0" algn="ctr">
              <a:buNone/>
            </a:pPr>
            <a:r>
              <a:rPr lang="en-US" sz="2200" b="1" dirty="0">
                <a:solidFill>
                  <a:srgbClr val="0D9488"/>
                </a:solidFill>
                <a:latin typeface="Calibri" pitchFamily="34" charset="0"/>
                <a:ea typeface="Calibri" pitchFamily="34" charset="-122"/>
                <a:cs typeface="Calibri" pitchFamily="34" charset="-120"/>
              </a:rPr>
              <a:t>10/10</a:t>
            </a:r>
            <a:endParaRPr lang="en-US" sz="2200" dirty="0"/>
          </a:p>
        </p:txBody>
      </p:sp>
      <p:sp>
        <p:nvSpPr>
          <p:cNvPr id="15" name="Text 13"/>
          <p:cNvSpPr/>
          <p:nvPr/>
        </p:nvSpPr>
        <p:spPr>
          <a:xfrm>
            <a:off x="4608576" y="2473452"/>
            <a:ext cx="1920240" cy="402336"/>
          </a:xfrm>
          <a:prstGeom prst="rect">
            <a:avLst/>
          </a:prstGeom>
          <a:noFill/>
          <a:ln/>
        </p:spPr>
        <p:txBody>
          <a:bodyPr wrap="square" lIns="0" tIns="0" rIns="0" bIns="0" rtlCol="0" anchor="ctr"/>
          <a:lstStyle/>
          <a:p>
            <a:pPr marL="0" indent="0" algn="ctr">
              <a:buNone/>
            </a:pPr>
            <a:r>
              <a:rPr lang="en-US" sz="1400" b="1" dirty="0">
                <a:solidFill>
                  <a:srgbClr val="94A3B8"/>
                </a:solidFill>
                <a:latin typeface="Calibri" pitchFamily="34" charset="0"/>
                <a:ea typeface="Calibri" pitchFamily="34" charset="-122"/>
                <a:cs typeface="Calibri" pitchFamily="34" charset="-120"/>
              </a:rPr>
              <a:t>Tests Passed</a:t>
            </a:r>
            <a:endParaRPr lang="en-US" sz="1400" b="1" dirty="0"/>
          </a:p>
        </p:txBody>
      </p:sp>
      <p:sp>
        <p:nvSpPr>
          <p:cNvPr id="16" name="Shape 14"/>
          <p:cNvSpPr/>
          <p:nvPr/>
        </p:nvSpPr>
        <p:spPr>
          <a:xfrm>
            <a:off x="6729984" y="1920240"/>
            <a:ext cx="1920240" cy="1005840"/>
          </a:xfrm>
          <a:prstGeom prst="rect">
            <a:avLst/>
          </a:prstGeom>
          <a:solidFill>
            <a:srgbClr val="1A2E5A"/>
          </a:solidFill>
          <a:ln w="19050">
            <a:solidFill>
              <a:srgbClr val="0D9488"/>
            </a:solidFill>
            <a:prstDash val="solid"/>
          </a:ln>
          <a:effectLst>
            <a:outerShdw blurRad="63500" dist="25400" dir="8100000" algn="bl" rotWithShape="0">
              <a:srgbClr val="000000">
                <a:alpha val="22000"/>
              </a:srgbClr>
            </a:outerShdw>
          </a:effectLst>
        </p:spPr>
      </p:sp>
      <p:sp>
        <p:nvSpPr>
          <p:cNvPr id="17" name="Text 15"/>
          <p:cNvSpPr/>
          <p:nvPr/>
        </p:nvSpPr>
        <p:spPr>
          <a:xfrm>
            <a:off x="6729984" y="1975104"/>
            <a:ext cx="1920240" cy="563270"/>
          </a:xfrm>
          <a:prstGeom prst="rect">
            <a:avLst/>
          </a:prstGeom>
          <a:noFill/>
          <a:ln/>
        </p:spPr>
        <p:txBody>
          <a:bodyPr wrap="square" lIns="0" tIns="0" rIns="0" bIns="0" rtlCol="0" anchor="ctr"/>
          <a:lstStyle/>
          <a:p>
            <a:pPr marL="0" indent="0" algn="ctr">
              <a:buNone/>
            </a:pPr>
            <a:r>
              <a:rPr lang="en-US" sz="2200" b="1" dirty="0">
                <a:solidFill>
                  <a:srgbClr val="0D9488"/>
                </a:solidFill>
                <a:latin typeface="Calibri" pitchFamily="34" charset="0"/>
                <a:ea typeface="Calibri" pitchFamily="34" charset="-122"/>
                <a:cs typeface="Calibri" pitchFamily="34" charset="-120"/>
              </a:rPr>
              <a:t>0</a:t>
            </a:r>
            <a:endParaRPr lang="en-US" sz="2200" dirty="0"/>
          </a:p>
        </p:txBody>
      </p:sp>
      <p:sp>
        <p:nvSpPr>
          <p:cNvPr id="18" name="Text 16"/>
          <p:cNvSpPr/>
          <p:nvPr/>
        </p:nvSpPr>
        <p:spPr>
          <a:xfrm>
            <a:off x="6729984" y="2473452"/>
            <a:ext cx="1920240" cy="402336"/>
          </a:xfrm>
          <a:prstGeom prst="rect">
            <a:avLst/>
          </a:prstGeom>
          <a:noFill/>
          <a:ln/>
        </p:spPr>
        <p:txBody>
          <a:bodyPr wrap="square" lIns="0" tIns="0" rIns="0" bIns="0" rtlCol="0" anchor="ctr"/>
          <a:lstStyle/>
          <a:p>
            <a:pPr marL="0" indent="0" algn="ctr">
              <a:buNone/>
            </a:pPr>
            <a:r>
              <a:rPr lang="en-US" sz="1400" b="1" dirty="0">
                <a:solidFill>
                  <a:srgbClr val="94A3B8"/>
                </a:solidFill>
                <a:latin typeface="Calibri" pitchFamily="34" charset="0"/>
                <a:ea typeface="Calibri" pitchFamily="34" charset="-122"/>
                <a:cs typeface="Calibri" pitchFamily="34" charset="-120"/>
              </a:rPr>
              <a:t>DB Required</a:t>
            </a:r>
            <a:endParaRPr lang="en-US" sz="1400" b="1" dirty="0"/>
          </a:p>
        </p:txBody>
      </p:sp>
      <p:sp>
        <p:nvSpPr>
          <p:cNvPr id="19" name="Shape 17"/>
          <p:cNvSpPr/>
          <p:nvPr/>
        </p:nvSpPr>
        <p:spPr>
          <a:xfrm>
            <a:off x="365760" y="3063240"/>
            <a:ext cx="8412480" cy="1737360"/>
          </a:xfrm>
          <a:prstGeom prst="rect">
            <a:avLst/>
          </a:prstGeom>
          <a:solidFill>
            <a:srgbClr val="1A2E5A"/>
          </a:solidFill>
          <a:ln w="12700">
            <a:solidFill>
              <a:srgbClr val="0D9488"/>
            </a:solidFill>
            <a:prstDash val="solid"/>
          </a:ln>
        </p:spPr>
      </p:sp>
      <p:sp>
        <p:nvSpPr>
          <p:cNvPr id="20" name="Text 18"/>
          <p:cNvSpPr/>
          <p:nvPr/>
        </p:nvSpPr>
        <p:spPr>
          <a:xfrm>
            <a:off x="548640" y="3154680"/>
            <a:ext cx="8046720" cy="274320"/>
          </a:xfrm>
          <a:prstGeom prst="rect">
            <a:avLst/>
          </a:prstGeom>
          <a:noFill/>
          <a:ln/>
        </p:spPr>
        <p:txBody>
          <a:bodyPr wrap="square" lIns="0" tIns="0" rIns="0" bIns="0" rtlCol="0" anchor="ctr"/>
          <a:lstStyle/>
          <a:p>
            <a:pPr marL="0" indent="0">
              <a:buNone/>
            </a:pPr>
            <a:r>
              <a:rPr lang="en-US" b="1" dirty="0">
                <a:solidFill>
                  <a:srgbClr val="14B8A6"/>
                </a:solidFill>
                <a:latin typeface="Calibri" pitchFamily="34" charset="0"/>
                <a:ea typeface="Calibri" pitchFamily="34" charset="-122"/>
                <a:cs typeface="Calibri" pitchFamily="34" charset="-120"/>
              </a:rPr>
              <a:t>CONCLUSION</a:t>
            </a:r>
            <a:endParaRPr lang="en-US" dirty="0"/>
          </a:p>
        </p:txBody>
      </p:sp>
      <p:sp>
        <p:nvSpPr>
          <p:cNvPr id="21" name="Text 19"/>
          <p:cNvSpPr/>
          <p:nvPr/>
        </p:nvSpPr>
        <p:spPr>
          <a:xfrm>
            <a:off x="548640" y="3474720"/>
            <a:ext cx="8046720" cy="1234440"/>
          </a:xfrm>
          <a:prstGeom prst="rect">
            <a:avLst/>
          </a:prstGeom>
          <a:noFill/>
          <a:ln/>
        </p:spPr>
        <p:txBody>
          <a:bodyPr wrap="square" rtlCol="0" anchor="ctr"/>
          <a:lstStyle/>
          <a:p>
            <a:pPr marL="0" indent="0">
              <a:buNone/>
            </a:pPr>
            <a:r>
              <a:rPr lang="en-US" sz="1400" b="1" dirty="0">
                <a:solidFill>
                  <a:srgbClr val="F1F5F9"/>
                </a:solidFill>
                <a:latin typeface="Calibri" pitchFamily="34" charset="0"/>
                <a:ea typeface="Calibri" pitchFamily="34" charset="-122"/>
                <a:cs typeface="Calibri" pitchFamily="34" charset="-120"/>
              </a:rPr>
              <a:t>This project delivered a fully functional, validated GUI Patient Management System for LUTH using Python and ipywidgets. All four modules, Registration, Records, Appointments, and Prescriptions; are working, tested, and documented. The application demonstrates that lightweight, accessible healthcare software tools can be built rapidly using open-source Python, with zero infrastructure cost, making such solutions viable for resource-constrained healthcare settings across Nigeria and beyond.</a:t>
            </a:r>
            <a:endParaRPr lang="en-US" sz="1400" b="1" dirty="0"/>
          </a:p>
        </p:txBody>
      </p:sp>
      <p:sp>
        <p:nvSpPr>
          <p:cNvPr id="22" name="Text 20"/>
          <p:cNvSpPr/>
          <p:nvPr/>
        </p:nvSpPr>
        <p:spPr>
          <a:xfrm>
            <a:off x="365760" y="4773168"/>
            <a:ext cx="8412480" cy="22860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MSc Biomedical Engineering 2025/2026  |  Group 1  |  College of Medicine, University of Lagos, Nigeria</a:t>
            </a:r>
            <a:endParaRPr lang="en-US" sz="1000" dirty="0"/>
          </a:p>
        </p:txBody>
      </p:sp>
      <p:sp>
        <p:nvSpPr>
          <p:cNvPr id="23" name="TextBox 22">
            <a:extLst>
              <a:ext uri="{FF2B5EF4-FFF2-40B4-BE49-F238E27FC236}">
                <a16:creationId xmlns:a16="http://schemas.microsoft.com/office/drawing/2014/main" id="{17157C29-1238-4DD3-FE5C-71975A7460E3}"/>
              </a:ext>
            </a:extLst>
          </p:cNvPr>
          <p:cNvSpPr txBox="1"/>
          <p:nvPr/>
        </p:nvSpPr>
        <p:spPr>
          <a:xfrm>
            <a:off x="8458200" y="4838700"/>
            <a:ext cx="451104" cy="369332"/>
          </a:xfrm>
          <a:prstGeom prst="rect">
            <a:avLst/>
          </a:prstGeom>
          <a:noFill/>
        </p:spPr>
        <p:txBody>
          <a:bodyPr wrap="square" rtlCol="0">
            <a:spAutoFit/>
          </a:bodyPr>
          <a:lstStyle/>
          <a:p>
            <a:r>
              <a:rPr lang="en-GB" b="1" dirty="0">
                <a:solidFill>
                  <a:schemeClr val="bg1"/>
                </a:solidFill>
              </a:rPr>
              <a:t>14</a:t>
            </a:r>
            <a:endParaRPr lang="en-US" b="1" dirty="0">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35AA9085-05A2-3B77-9A9E-4B7D3C1C589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806C6E8-1514-54E4-1974-214389BE6C01}"/>
              </a:ext>
            </a:extLst>
          </p:cNvPr>
          <p:cNvSpPr/>
          <p:nvPr/>
        </p:nvSpPr>
        <p:spPr>
          <a:xfrm>
            <a:off x="0" y="0"/>
            <a:ext cx="146304" cy="5143500"/>
          </a:xfrm>
          <a:prstGeom prst="rect">
            <a:avLst/>
          </a:prstGeom>
          <a:solidFill>
            <a:srgbClr val="0D9488"/>
          </a:solidFill>
          <a:ln w="12700">
            <a:solidFill>
              <a:srgbClr val="0D9488"/>
            </a:solidFill>
            <a:prstDash val="solid"/>
          </a:ln>
        </p:spPr>
      </p:sp>
      <p:sp>
        <p:nvSpPr>
          <p:cNvPr id="3" name="Shape 1">
            <a:extLst>
              <a:ext uri="{FF2B5EF4-FFF2-40B4-BE49-F238E27FC236}">
                <a16:creationId xmlns:a16="http://schemas.microsoft.com/office/drawing/2014/main" id="{0ED3DFE1-384C-4BAC-6E2C-3FD0CE2A5107}"/>
              </a:ext>
            </a:extLst>
          </p:cNvPr>
          <p:cNvSpPr/>
          <p:nvPr/>
        </p:nvSpPr>
        <p:spPr>
          <a:xfrm>
            <a:off x="146304" y="5029200"/>
            <a:ext cx="8997696" cy="114300"/>
          </a:xfrm>
          <a:prstGeom prst="rect">
            <a:avLst/>
          </a:prstGeom>
          <a:solidFill>
            <a:srgbClr val="14B8A6"/>
          </a:solidFill>
          <a:ln w="12700">
            <a:solidFill>
              <a:srgbClr val="14B8A6"/>
            </a:solidFill>
            <a:prstDash val="solid"/>
          </a:ln>
        </p:spPr>
      </p:sp>
      <p:sp>
        <p:nvSpPr>
          <p:cNvPr id="5" name="Text 3">
            <a:extLst>
              <a:ext uri="{FF2B5EF4-FFF2-40B4-BE49-F238E27FC236}">
                <a16:creationId xmlns:a16="http://schemas.microsoft.com/office/drawing/2014/main" id="{FD31A8D1-B637-B0C7-7257-5C540153BEAD}"/>
              </a:ext>
            </a:extLst>
          </p:cNvPr>
          <p:cNvSpPr/>
          <p:nvPr/>
        </p:nvSpPr>
        <p:spPr>
          <a:xfrm>
            <a:off x="365760" y="2002536"/>
            <a:ext cx="8412480" cy="320040"/>
          </a:xfrm>
          <a:prstGeom prst="rect">
            <a:avLst/>
          </a:prstGeom>
          <a:noFill/>
          <a:ln/>
        </p:spPr>
        <p:txBody>
          <a:bodyPr wrap="square" rtlCol="0" anchor="ctr"/>
          <a:lstStyle/>
          <a:p>
            <a:pPr marL="0" indent="0">
              <a:buNone/>
            </a:pPr>
            <a:r>
              <a:rPr lang="en-US" b="1" dirty="0">
                <a:solidFill>
                  <a:srgbClr val="14B8A6"/>
                </a:solidFill>
                <a:latin typeface="Calibri" pitchFamily="34" charset="0"/>
                <a:ea typeface="Calibri" pitchFamily="34" charset="-122"/>
                <a:cs typeface="Calibri" pitchFamily="34" charset="-120"/>
              </a:rPr>
              <a:t>GUI-Based Patient Management System — LUTH  |  Group 1</a:t>
            </a:r>
            <a:endParaRPr lang="en-US" b="1" dirty="0"/>
          </a:p>
        </p:txBody>
      </p:sp>
      <p:sp>
        <p:nvSpPr>
          <p:cNvPr id="19" name="Shape 17">
            <a:extLst>
              <a:ext uri="{FF2B5EF4-FFF2-40B4-BE49-F238E27FC236}">
                <a16:creationId xmlns:a16="http://schemas.microsoft.com/office/drawing/2014/main" id="{185AE0E8-4C8B-E9E6-7244-7E460CEA4A74}"/>
              </a:ext>
            </a:extLst>
          </p:cNvPr>
          <p:cNvSpPr/>
          <p:nvPr/>
        </p:nvSpPr>
        <p:spPr>
          <a:xfrm>
            <a:off x="365760" y="3063240"/>
            <a:ext cx="8412480" cy="1737360"/>
          </a:xfrm>
          <a:prstGeom prst="rect">
            <a:avLst/>
          </a:prstGeom>
          <a:solidFill>
            <a:srgbClr val="1A2E5A"/>
          </a:solidFill>
          <a:ln w="12700">
            <a:solidFill>
              <a:srgbClr val="0D9488"/>
            </a:solidFill>
            <a:prstDash val="solid"/>
          </a:ln>
        </p:spPr>
      </p:sp>
      <p:sp>
        <p:nvSpPr>
          <p:cNvPr id="20" name="Text 18">
            <a:extLst>
              <a:ext uri="{FF2B5EF4-FFF2-40B4-BE49-F238E27FC236}">
                <a16:creationId xmlns:a16="http://schemas.microsoft.com/office/drawing/2014/main" id="{6B4CEFED-2882-28CC-4C94-5949FC68EDEE}"/>
              </a:ext>
            </a:extLst>
          </p:cNvPr>
          <p:cNvSpPr/>
          <p:nvPr/>
        </p:nvSpPr>
        <p:spPr>
          <a:xfrm>
            <a:off x="678180" y="3154680"/>
            <a:ext cx="2857500" cy="365760"/>
          </a:xfrm>
          <a:prstGeom prst="rect">
            <a:avLst/>
          </a:prstGeom>
          <a:noFill/>
          <a:ln/>
        </p:spPr>
        <p:txBody>
          <a:bodyPr wrap="square" lIns="0" tIns="0" rIns="0" bIns="0" rtlCol="0" anchor="ctr"/>
          <a:lstStyle/>
          <a:p>
            <a:pPr marL="0" indent="0">
              <a:buNone/>
            </a:pPr>
            <a:r>
              <a:rPr lang="en-US" b="1" dirty="0">
                <a:solidFill>
                  <a:srgbClr val="14B8A6"/>
                </a:solidFill>
                <a:latin typeface="Calibri" pitchFamily="34" charset="0"/>
                <a:ea typeface="Calibri" pitchFamily="34" charset="-122"/>
                <a:cs typeface="Calibri" pitchFamily="34" charset="-120"/>
              </a:rPr>
              <a:t>Tab 1: Register New Patient</a:t>
            </a:r>
            <a:endParaRPr lang="en-US" dirty="0"/>
          </a:p>
        </p:txBody>
      </p:sp>
      <p:sp>
        <p:nvSpPr>
          <p:cNvPr id="22" name="Text 20">
            <a:extLst>
              <a:ext uri="{FF2B5EF4-FFF2-40B4-BE49-F238E27FC236}">
                <a16:creationId xmlns:a16="http://schemas.microsoft.com/office/drawing/2014/main" id="{6A10E59F-97C6-B454-EDA0-3053497F91BF}"/>
              </a:ext>
            </a:extLst>
          </p:cNvPr>
          <p:cNvSpPr/>
          <p:nvPr/>
        </p:nvSpPr>
        <p:spPr>
          <a:xfrm>
            <a:off x="365760" y="2350008"/>
            <a:ext cx="8412480" cy="228600"/>
          </a:xfrm>
          <a:prstGeom prst="rect">
            <a:avLst/>
          </a:prstGeom>
          <a:noFill/>
          <a:ln/>
        </p:spPr>
        <p:txBody>
          <a:bodyPr wrap="square" rtlCol="0" anchor="ctr"/>
          <a:lstStyle/>
          <a:p>
            <a:pPr marL="0" indent="0">
              <a:buNone/>
            </a:pPr>
            <a:r>
              <a:rPr lang="en-US" sz="1100" b="1" dirty="0">
                <a:solidFill>
                  <a:srgbClr val="94A3B8"/>
                </a:solidFill>
                <a:latin typeface="Calibri" pitchFamily="34" charset="0"/>
                <a:ea typeface="Calibri" pitchFamily="34" charset="-122"/>
                <a:cs typeface="Calibri" pitchFamily="34" charset="-120"/>
              </a:rPr>
              <a:t>MSc Biomedical Engineering 2025/2026  |  Group 1  |  College of Medicine, University of Lagos, Nigeria</a:t>
            </a:r>
            <a:endParaRPr lang="en-US" sz="1100" b="1" dirty="0"/>
          </a:p>
        </p:txBody>
      </p:sp>
      <p:sp>
        <p:nvSpPr>
          <p:cNvPr id="23" name="TextBox 22">
            <a:extLst>
              <a:ext uri="{FF2B5EF4-FFF2-40B4-BE49-F238E27FC236}">
                <a16:creationId xmlns:a16="http://schemas.microsoft.com/office/drawing/2014/main" id="{3D50EE6C-E7FF-ECFF-5A66-DEDD0F6D7268}"/>
              </a:ext>
            </a:extLst>
          </p:cNvPr>
          <p:cNvSpPr txBox="1"/>
          <p:nvPr/>
        </p:nvSpPr>
        <p:spPr>
          <a:xfrm>
            <a:off x="8458200" y="4838700"/>
            <a:ext cx="451104" cy="369332"/>
          </a:xfrm>
          <a:prstGeom prst="rect">
            <a:avLst/>
          </a:prstGeom>
          <a:noFill/>
        </p:spPr>
        <p:txBody>
          <a:bodyPr wrap="square" rtlCol="0">
            <a:spAutoFit/>
          </a:bodyPr>
          <a:lstStyle/>
          <a:p>
            <a:r>
              <a:rPr lang="en-GB" b="1" dirty="0">
                <a:solidFill>
                  <a:schemeClr val="bg1"/>
                </a:solidFill>
              </a:rPr>
              <a:t>15</a:t>
            </a:r>
            <a:endParaRPr lang="en-US" b="1" dirty="0">
              <a:solidFill>
                <a:schemeClr val="bg1"/>
              </a:solidFill>
            </a:endParaRPr>
          </a:p>
        </p:txBody>
      </p:sp>
      <p:sp>
        <p:nvSpPr>
          <p:cNvPr id="24" name="Text 2"/>
          <p:cNvSpPr/>
          <p:nvPr/>
        </p:nvSpPr>
        <p:spPr>
          <a:xfrm>
            <a:off x="365760" y="525780"/>
            <a:ext cx="8412480" cy="777240"/>
          </a:xfrm>
          <a:prstGeom prst="rect">
            <a:avLst/>
          </a:prstGeom>
          <a:noFill/>
          <a:ln/>
        </p:spPr>
        <p:txBody>
          <a:bodyPr wrap="square" rtlCol="0" anchor="ctr"/>
          <a:lstStyle/>
          <a:p>
            <a:pPr marL="0" indent="0">
              <a:buNone/>
            </a:pPr>
            <a:r>
              <a:rPr lang="en-US" sz="5400" b="1" dirty="0">
                <a:solidFill>
                  <a:srgbClr val="FFFFFF"/>
                </a:solidFill>
                <a:latin typeface="Calibri" pitchFamily="34" charset="0"/>
                <a:ea typeface="Calibri" pitchFamily="34" charset="-122"/>
                <a:cs typeface="Calibri" pitchFamily="34" charset="-120"/>
              </a:rPr>
              <a:t>Thank You</a:t>
            </a:r>
            <a:endParaRPr lang="en-US" sz="5400" dirty="0"/>
          </a:p>
        </p:txBody>
      </p:sp>
      <p:sp>
        <p:nvSpPr>
          <p:cNvPr id="25" name="Text 3"/>
          <p:cNvSpPr/>
          <p:nvPr/>
        </p:nvSpPr>
        <p:spPr>
          <a:xfrm>
            <a:off x="365760" y="1184910"/>
            <a:ext cx="8412480" cy="457200"/>
          </a:xfrm>
          <a:prstGeom prst="rect">
            <a:avLst/>
          </a:prstGeom>
          <a:noFill/>
          <a:ln/>
        </p:spPr>
        <p:txBody>
          <a:bodyPr wrap="square" rtlCol="0" anchor="ctr"/>
          <a:lstStyle/>
          <a:p>
            <a:pPr marL="0" indent="0">
              <a:buNone/>
            </a:pPr>
            <a:r>
              <a:rPr lang="en-US" sz="2600" dirty="0">
                <a:solidFill>
                  <a:srgbClr val="14B8A6"/>
                </a:solidFill>
                <a:latin typeface="Calibri" pitchFamily="34" charset="0"/>
                <a:ea typeface="Calibri" pitchFamily="34" charset="-122"/>
                <a:cs typeface="Calibri" pitchFamily="34" charset="-120"/>
              </a:rPr>
              <a:t>Questions &amp; Discussion</a:t>
            </a:r>
            <a:endParaRPr lang="en-US" sz="2600" dirty="0"/>
          </a:p>
        </p:txBody>
      </p:sp>
      <p:sp>
        <p:nvSpPr>
          <p:cNvPr id="26" name="Shape 4"/>
          <p:cNvSpPr/>
          <p:nvPr/>
        </p:nvSpPr>
        <p:spPr>
          <a:xfrm>
            <a:off x="457200" y="1690878"/>
            <a:ext cx="3200400" cy="45720"/>
          </a:xfrm>
          <a:prstGeom prst="rect">
            <a:avLst/>
          </a:prstGeom>
          <a:solidFill>
            <a:srgbClr val="0D9488"/>
          </a:solidFill>
          <a:ln w="12700">
            <a:solidFill>
              <a:srgbClr val="0D9488"/>
            </a:solidFill>
            <a:prstDash val="solid"/>
          </a:ln>
        </p:spPr>
      </p:sp>
      <p:sp>
        <p:nvSpPr>
          <p:cNvPr id="27" name="Text 18">
            <a:extLst>
              <a:ext uri="{FF2B5EF4-FFF2-40B4-BE49-F238E27FC236}">
                <a16:creationId xmlns:a16="http://schemas.microsoft.com/office/drawing/2014/main" id="{DCA1C5A4-445D-84A9-9F8E-3B0600793B77}"/>
              </a:ext>
            </a:extLst>
          </p:cNvPr>
          <p:cNvSpPr/>
          <p:nvPr/>
        </p:nvSpPr>
        <p:spPr>
          <a:xfrm>
            <a:off x="2606040" y="3558540"/>
            <a:ext cx="3093720" cy="339090"/>
          </a:xfrm>
          <a:prstGeom prst="rect">
            <a:avLst/>
          </a:prstGeom>
          <a:noFill/>
          <a:ln/>
        </p:spPr>
        <p:txBody>
          <a:bodyPr wrap="square" lIns="0" tIns="0" rIns="0" bIns="0" rtlCol="0" anchor="ctr"/>
          <a:lstStyle/>
          <a:p>
            <a:pPr marL="0" indent="0">
              <a:buNone/>
            </a:pPr>
            <a:r>
              <a:rPr lang="en-US" b="1" dirty="0">
                <a:solidFill>
                  <a:srgbClr val="14B8A6"/>
                </a:solidFill>
                <a:latin typeface="Calibri" pitchFamily="34" charset="0"/>
                <a:ea typeface="Calibri" pitchFamily="34" charset="-122"/>
                <a:cs typeface="Calibri" pitchFamily="34" charset="-120"/>
              </a:rPr>
              <a:t>Tab 2: Patient Records</a:t>
            </a:r>
            <a:endParaRPr lang="en-US" dirty="0"/>
          </a:p>
        </p:txBody>
      </p:sp>
      <p:sp>
        <p:nvSpPr>
          <p:cNvPr id="28" name="Text 18">
            <a:extLst>
              <a:ext uri="{FF2B5EF4-FFF2-40B4-BE49-F238E27FC236}">
                <a16:creationId xmlns:a16="http://schemas.microsoft.com/office/drawing/2014/main" id="{5439EF31-3960-498D-AC32-00D39594E436}"/>
              </a:ext>
            </a:extLst>
          </p:cNvPr>
          <p:cNvSpPr/>
          <p:nvPr/>
        </p:nvSpPr>
        <p:spPr>
          <a:xfrm>
            <a:off x="3985260" y="3926205"/>
            <a:ext cx="3093720" cy="339090"/>
          </a:xfrm>
          <a:prstGeom prst="rect">
            <a:avLst/>
          </a:prstGeom>
          <a:noFill/>
          <a:ln/>
        </p:spPr>
        <p:txBody>
          <a:bodyPr wrap="square" lIns="0" tIns="0" rIns="0" bIns="0" rtlCol="0" anchor="ctr"/>
          <a:lstStyle/>
          <a:p>
            <a:pPr marL="0" indent="0">
              <a:buNone/>
            </a:pPr>
            <a:r>
              <a:rPr lang="en-US" b="1" dirty="0">
                <a:solidFill>
                  <a:srgbClr val="14B8A6"/>
                </a:solidFill>
                <a:latin typeface="Calibri" pitchFamily="34" charset="0"/>
                <a:ea typeface="Calibri" pitchFamily="34" charset="-122"/>
                <a:cs typeface="Calibri" pitchFamily="34" charset="-120"/>
              </a:rPr>
              <a:t>Tab 3: </a:t>
            </a:r>
            <a:r>
              <a:rPr lang="en-GB" b="1" dirty="0">
                <a:solidFill>
                  <a:srgbClr val="14B8A6"/>
                </a:solidFill>
                <a:latin typeface="Calibri" pitchFamily="34" charset="0"/>
                <a:ea typeface="Calibri" pitchFamily="34" charset="-122"/>
                <a:cs typeface="Calibri" pitchFamily="34" charset="-120"/>
              </a:rPr>
              <a:t>Appointments </a:t>
            </a:r>
            <a:endParaRPr lang="en-US" dirty="0"/>
          </a:p>
        </p:txBody>
      </p:sp>
      <p:sp>
        <p:nvSpPr>
          <p:cNvPr id="29" name="Text 18">
            <a:extLst>
              <a:ext uri="{FF2B5EF4-FFF2-40B4-BE49-F238E27FC236}">
                <a16:creationId xmlns:a16="http://schemas.microsoft.com/office/drawing/2014/main" id="{14818AE8-A6BF-69CE-6DF2-48D29F4F0F84}"/>
              </a:ext>
            </a:extLst>
          </p:cNvPr>
          <p:cNvSpPr/>
          <p:nvPr/>
        </p:nvSpPr>
        <p:spPr>
          <a:xfrm>
            <a:off x="5509260" y="4284346"/>
            <a:ext cx="3093720" cy="339090"/>
          </a:xfrm>
          <a:prstGeom prst="rect">
            <a:avLst/>
          </a:prstGeom>
          <a:noFill/>
          <a:ln/>
        </p:spPr>
        <p:txBody>
          <a:bodyPr wrap="square" lIns="0" tIns="0" rIns="0" bIns="0" rtlCol="0" anchor="ctr"/>
          <a:lstStyle/>
          <a:p>
            <a:pPr marL="0" indent="0">
              <a:buNone/>
            </a:pPr>
            <a:r>
              <a:rPr lang="en-US" b="1" dirty="0">
                <a:solidFill>
                  <a:srgbClr val="14B8A6"/>
                </a:solidFill>
                <a:latin typeface="Calibri" pitchFamily="34" charset="0"/>
                <a:ea typeface="Calibri" pitchFamily="34" charset="-122"/>
                <a:cs typeface="Calibri" pitchFamily="34" charset="-120"/>
              </a:rPr>
              <a:t>Tab 4: </a:t>
            </a:r>
            <a:r>
              <a:rPr lang="en-GB" b="1" dirty="0">
                <a:solidFill>
                  <a:srgbClr val="14B8A6"/>
                </a:solidFill>
                <a:latin typeface="Calibri" pitchFamily="34" charset="0"/>
                <a:ea typeface="Calibri" pitchFamily="34" charset="-122"/>
                <a:cs typeface="Calibri" pitchFamily="34" charset="-120"/>
              </a:rPr>
              <a:t>Prescriptions</a:t>
            </a:r>
            <a:endParaRPr lang="en-US" dirty="0"/>
          </a:p>
        </p:txBody>
      </p:sp>
    </p:spTree>
    <p:extLst>
      <p:ext uri="{BB962C8B-B14F-4D97-AF65-F5344CB8AC3E}">
        <p14:creationId xmlns:p14="http://schemas.microsoft.com/office/powerpoint/2010/main" val="19789953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Shape 1"/>
          <p:cNvSpPr/>
          <p:nvPr/>
        </p:nvSpPr>
        <p:spPr>
          <a:xfrm>
            <a:off x="164592" y="5029200"/>
            <a:ext cx="8979408" cy="114300"/>
          </a:xfrm>
          <a:prstGeom prst="rect">
            <a:avLst/>
          </a:prstGeom>
          <a:solidFill>
            <a:srgbClr val="14B8A6"/>
          </a:solidFill>
          <a:ln w="12700">
            <a:solidFill>
              <a:srgbClr val="14B8A6"/>
            </a:solidFill>
            <a:prstDash val="solid"/>
          </a:ln>
        </p:spPr>
      </p:sp>
      <p:sp>
        <p:nvSpPr>
          <p:cNvPr id="7" name="Text 5"/>
          <p:cNvSpPr/>
          <p:nvPr/>
        </p:nvSpPr>
        <p:spPr>
          <a:xfrm>
            <a:off x="457200" y="2377440"/>
            <a:ext cx="8412480" cy="320040"/>
          </a:xfrm>
          <a:prstGeom prst="rect">
            <a:avLst/>
          </a:prstGeom>
          <a:noFill/>
          <a:ln/>
        </p:spPr>
        <p:txBody>
          <a:bodyPr wrap="square" rtlCol="0" anchor="ctr"/>
          <a:lstStyle/>
          <a:p>
            <a:pPr marL="0" indent="0">
              <a:buNone/>
            </a:pPr>
            <a:r>
              <a:rPr lang="en-US" sz="1400" kern="0" spc="100" dirty="0">
                <a:solidFill>
                  <a:srgbClr val="E2E8F0"/>
                </a:solidFill>
                <a:latin typeface="Calibri" pitchFamily="34" charset="0"/>
                <a:ea typeface="Calibri" pitchFamily="34" charset="-122"/>
                <a:cs typeface="Calibri" pitchFamily="34" charset="-120"/>
              </a:rPr>
              <a:t>PREDICTIVE MODELLING FOR COVID-19 IN PUBLIC HEALTH</a:t>
            </a:r>
            <a:endParaRPr lang="en-US" sz="1400" dirty="0"/>
          </a:p>
        </p:txBody>
      </p:sp>
      <p:sp>
        <p:nvSpPr>
          <p:cNvPr id="8" name="Text 6"/>
          <p:cNvSpPr/>
          <p:nvPr/>
        </p:nvSpPr>
        <p:spPr>
          <a:xfrm>
            <a:off x="457200" y="2697480"/>
            <a:ext cx="8412480" cy="274320"/>
          </a:xfrm>
          <a:prstGeom prst="rect">
            <a:avLst/>
          </a:prstGeom>
          <a:noFill/>
          <a:ln/>
        </p:spPr>
        <p:txBody>
          <a:bodyPr wrap="square" rtlCol="0" anchor="ctr"/>
          <a:lstStyle/>
          <a:p>
            <a:pPr marL="0" indent="0">
              <a:buNone/>
            </a:pPr>
            <a:r>
              <a:rPr lang="en-US" sz="1200" dirty="0">
                <a:solidFill>
                  <a:srgbClr val="94A3B8"/>
                </a:solidFill>
                <a:latin typeface="Calibri" pitchFamily="34" charset="0"/>
                <a:ea typeface="Calibri" pitchFamily="34" charset="-122"/>
                <a:cs typeface="Calibri" pitchFamily="34" charset="-120"/>
              </a:rPr>
              <a:t>HealthGuard Analytics  |  Data Science Capstone Project  |  February 2026</a:t>
            </a:r>
            <a:endParaRPr lang="en-US" sz="1200" dirty="0"/>
          </a:p>
        </p:txBody>
      </p:sp>
      <p:sp>
        <p:nvSpPr>
          <p:cNvPr id="9" name="Text 7"/>
          <p:cNvSpPr/>
          <p:nvPr/>
        </p:nvSpPr>
        <p:spPr>
          <a:xfrm>
            <a:off x="457200" y="3474720"/>
            <a:ext cx="1965960" cy="438912"/>
          </a:xfrm>
          <a:prstGeom prst="rect">
            <a:avLst/>
          </a:prstGeom>
          <a:noFill/>
          <a:ln/>
        </p:spPr>
        <p:txBody>
          <a:bodyPr wrap="square" lIns="0" tIns="0" rIns="0" bIns="0" rtlCol="0" anchor="ctr"/>
          <a:lstStyle/>
          <a:p>
            <a:pPr marL="0" indent="0" algn="ctr">
              <a:buNone/>
            </a:pPr>
            <a:r>
              <a:rPr lang="en-US" sz="2000" b="1" dirty="0">
                <a:solidFill>
                  <a:srgbClr val="14B8A6"/>
                </a:solidFill>
                <a:latin typeface="Calibri" pitchFamily="34" charset="0"/>
                <a:ea typeface="Calibri" pitchFamily="34" charset="-122"/>
                <a:cs typeface="Calibri" pitchFamily="34" charset="-120"/>
              </a:rPr>
              <a:t>Random Forest</a:t>
            </a:r>
            <a:endParaRPr lang="en-US" sz="2000" dirty="0"/>
          </a:p>
        </p:txBody>
      </p:sp>
      <p:sp>
        <p:nvSpPr>
          <p:cNvPr id="10" name="Text 8"/>
          <p:cNvSpPr/>
          <p:nvPr/>
        </p:nvSpPr>
        <p:spPr>
          <a:xfrm>
            <a:off x="457200" y="3913632"/>
            <a:ext cx="1965960" cy="256032"/>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Best Model</a:t>
            </a:r>
            <a:endParaRPr lang="en-US" sz="1100" dirty="0"/>
          </a:p>
        </p:txBody>
      </p:sp>
      <p:sp>
        <p:nvSpPr>
          <p:cNvPr id="11" name="Text 9"/>
          <p:cNvSpPr/>
          <p:nvPr/>
        </p:nvSpPr>
        <p:spPr>
          <a:xfrm>
            <a:off x="2606040" y="3474720"/>
            <a:ext cx="1965960" cy="438912"/>
          </a:xfrm>
          <a:prstGeom prst="rect">
            <a:avLst/>
          </a:prstGeom>
          <a:noFill/>
          <a:ln/>
        </p:spPr>
        <p:txBody>
          <a:bodyPr wrap="square" lIns="0" tIns="0" rIns="0" bIns="0" rtlCol="0" anchor="ctr"/>
          <a:lstStyle/>
          <a:p>
            <a:pPr marL="0" indent="0" algn="ctr">
              <a:buNone/>
            </a:pPr>
            <a:r>
              <a:rPr lang="en-US" sz="2000" b="1" dirty="0">
                <a:solidFill>
                  <a:srgbClr val="14B8A6"/>
                </a:solidFill>
                <a:latin typeface="Calibri" pitchFamily="34" charset="0"/>
                <a:ea typeface="Calibri" pitchFamily="34" charset="-122"/>
                <a:cs typeface="Calibri" pitchFamily="34" charset="-120"/>
              </a:rPr>
              <a:t>99.30%</a:t>
            </a:r>
            <a:endParaRPr lang="en-US" sz="2000" dirty="0"/>
          </a:p>
        </p:txBody>
      </p:sp>
      <p:sp>
        <p:nvSpPr>
          <p:cNvPr id="12" name="Text 10"/>
          <p:cNvSpPr/>
          <p:nvPr/>
        </p:nvSpPr>
        <p:spPr>
          <a:xfrm>
            <a:off x="2606040" y="3913632"/>
            <a:ext cx="1965960" cy="256032"/>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Accuracy</a:t>
            </a:r>
            <a:endParaRPr lang="en-US" sz="1100" dirty="0"/>
          </a:p>
        </p:txBody>
      </p:sp>
      <p:sp>
        <p:nvSpPr>
          <p:cNvPr id="13" name="Text 11"/>
          <p:cNvSpPr/>
          <p:nvPr/>
        </p:nvSpPr>
        <p:spPr>
          <a:xfrm>
            <a:off x="4754880" y="3474720"/>
            <a:ext cx="1965960" cy="438912"/>
          </a:xfrm>
          <a:prstGeom prst="rect">
            <a:avLst/>
          </a:prstGeom>
          <a:noFill/>
          <a:ln/>
        </p:spPr>
        <p:txBody>
          <a:bodyPr wrap="square" lIns="0" tIns="0" rIns="0" bIns="0" rtlCol="0" anchor="ctr"/>
          <a:lstStyle/>
          <a:p>
            <a:pPr marL="0" indent="0" algn="ctr">
              <a:buNone/>
            </a:pPr>
            <a:r>
              <a:rPr lang="en-US" sz="2000" b="1" dirty="0">
                <a:solidFill>
                  <a:srgbClr val="14B8A6"/>
                </a:solidFill>
                <a:latin typeface="Calibri" pitchFamily="34" charset="0"/>
                <a:ea typeface="Calibri" pitchFamily="34" charset="-122"/>
                <a:cs typeface="Calibri" pitchFamily="34" charset="-120"/>
              </a:rPr>
              <a:t>Deaths</a:t>
            </a:r>
            <a:endParaRPr lang="en-US" sz="2000" dirty="0"/>
          </a:p>
        </p:txBody>
      </p:sp>
      <p:sp>
        <p:nvSpPr>
          <p:cNvPr id="14" name="Text 12"/>
          <p:cNvSpPr/>
          <p:nvPr/>
        </p:nvSpPr>
        <p:spPr>
          <a:xfrm>
            <a:off x="4754880" y="3913632"/>
            <a:ext cx="1965960" cy="256032"/>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Top Feature</a:t>
            </a:r>
            <a:endParaRPr lang="en-US" sz="1100" dirty="0"/>
          </a:p>
        </p:txBody>
      </p:sp>
      <p:sp>
        <p:nvSpPr>
          <p:cNvPr id="15" name="Text 13"/>
          <p:cNvSpPr/>
          <p:nvPr/>
        </p:nvSpPr>
        <p:spPr>
          <a:xfrm>
            <a:off x="6903720" y="3474720"/>
            <a:ext cx="1965960" cy="438912"/>
          </a:xfrm>
          <a:prstGeom prst="rect">
            <a:avLst/>
          </a:prstGeom>
          <a:noFill/>
          <a:ln/>
        </p:spPr>
        <p:txBody>
          <a:bodyPr wrap="square" lIns="0" tIns="0" rIns="0" bIns="0" rtlCol="0" anchor="ctr"/>
          <a:lstStyle/>
          <a:p>
            <a:pPr marL="0" indent="0" algn="ctr">
              <a:buNone/>
            </a:pPr>
            <a:r>
              <a:rPr lang="en-US" sz="2000" b="1" dirty="0">
                <a:solidFill>
                  <a:srgbClr val="14B8A6"/>
                </a:solidFill>
                <a:latin typeface="Calibri" pitchFamily="34" charset="0"/>
                <a:ea typeface="Calibri" pitchFamily="34" charset="-122"/>
                <a:cs typeface="Calibri" pitchFamily="34" charset="-120"/>
              </a:rPr>
              <a:t>18M</a:t>
            </a:r>
            <a:endParaRPr lang="en-US" sz="2000" dirty="0"/>
          </a:p>
        </p:txBody>
      </p:sp>
      <p:sp>
        <p:nvSpPr>
          <p:cNvPr id="16" name="Text 14"/>
          <p:cNvSpPr/>
          <p:nvPr/>
        </p:nvSpPr>
        <p:spPr>
          <a:xfrm>
            <a:off x="6903720" y="3913632"/>
            <a:ext cx="1965960" cy="256032"/>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Aug Forecast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1065</TotalTime>
  <Words>1491</Words>
  <Application>Microsoft Office PowerPoint</Application>
  <PresentationFormat>On-screen Show (16:9)</PresentationFormat>
  <Paragraphs>249</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LUTH Patient Management System</dc:title>
  <dc:subject>PptxGenJS Presentation</dc:subject>
  <dc:creator>MSc Biomedical Engineering Group 1 — UNILAG</dc:creator>
  <cp:lastModifiedBy>SUNNY AGBAI</cp:lastModifiedBy>
  <cp:revision>9</cp:revision>
  <dcterms:created xsi:type="dcterms:W3CDTF">2026-02-28T20:49:13Z</dcterms:created>
  <dcterms:modified xsi:type="dcterms:W3CDTF">2026-03-01T14:39:54Z</dcterms:modified>
</cp:coreProperties>
</file>